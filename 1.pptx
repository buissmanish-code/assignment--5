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72" r:id="rId4"/>
    <p:sldId id="260" r:id="rId5"/>
    <p:sldId id="261" r:id="rId6"/>
    <p:sldId id="259" r:id="rId7"/>
    <p:sldId id="273" r:id="rId8"/>
    <p:sldId id="263" r:id="rId9"/>
    <p:sldId id="264" r:id="rId10"/>
    <p:sldId id="262" r:id="rId11"/>
    <p:sldId id="274" r:id="rId12"/>
    <p:sldId id="266" r:id="rId13"/>
    <p:sldId id="267" r:id="rId14"/>
    <p:sldId id="275" r:id="rId15"/>
    <p:sldId id="268" r:id="rId16"/>
    <p:sldId id="269" r:id="rId17"/>
    <p:sldId id="270" r:id="rId18"/>
    <p:sldId id="276" r:id="rId19"/>
    <p:sldId id="271" r:id="rId2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>
        <p:scale>
          <a:sx n="75" d="100"/>
          <a:sy n="75" d="100"/>
        </p:scale>
        <p:origin x="974" y="2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FF87C6-1BE5-6262-51AF-114CACF79BF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9782797-FFD9-37E9-0AE6-8AD2F3E322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932F602-7A4B-FD13-C0AB-BE1B503C41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338C561-FA04-D9C9-A454-F9935A80B4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51BC17-BB17-607D-D7CF-26138DF58A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96270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EE497-00F0-114A-12CE-24B40460B9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4BFD2-A3CE-6D59-EB75-8695866B14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E1BA28-D4E4-9E88-B669-5BAA62F4FF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1D342A-BDEA-3C85-F391-E44661020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807DD9-1651-A30F-DDC8-A3A4D1B98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391719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7C523-FF0A-ED3C-68F9-03B13722F6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4EE3A1F-F1AE-09BE-326F-BF122B4111D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403265-E8AC-E986-5632-AF1DD93FCD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A571B0-26E7-9710-0E26-534EE40DC9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A8C14C2-4164-8B33-D011-945A3227E1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62471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E5BD96-72EA-7458-78D6-6F63D45D57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01A63F-ED8A-99D8-5CC2-B9852864D4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3B083E5-465B-4994-8F20-4EF97CF3BBB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F4CA0B-96FF-9F65-74FB-8144BF3B73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E1FAC33-E7FF-8633-C757-B83EBD1FFD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55EFBAB-DA64-24D8-1C60-A7EB5BD39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3234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55E035-9A91-B1D6-C721-628F60A0A3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735F577-C87C-8C9D-A448-86FB88AE452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8CCCA76-1495-CCC6-9F17-B5D897BBB1E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FAF8D35-EFCF-E970-B31F-ACBD68127C7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35CF52-3B82-79E8-F687-ABDD819EFE5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323D4B4-328E-2DB0-1F6B-29285BF89E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CA04EA-58C1-AB07-CDBF-DCBD042C0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6BE9634-2852-0147-FDD9-B0F91B81A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1045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1FB7D6-13F8-3AEA-74AF-D2ECBA3988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EDC3224-7699-17B9-94ED-4D8F5EA998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E08D748-24A2-DB09-FC01-88F26E55D9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2FFAD9-C26A-9FAB-E4A7-82474B44A4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0936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8B89189-7F01-CC0F-A77A-D922D9C1F8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5EFF480-CA98-83BB-98D3-60B5AC3435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3D2420A-6BFF-B354-2371-DCB95EC00E0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44961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788CFBA-294D-34CF-EE5D-BAF44096EC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85570B-1A82-1C8C-C382-FB0250A4BB4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6BCB0B0-54D6-6B18-3EDE-D13326FFB09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9AEEF3F-9639-848C-B563-99CBE6380B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F8D51C0-57CC-4197-70E2-B6587FF6AE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771FB4-B678-8299-F4C8-CFC0076B50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2223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E103E2-4391-2A23-F71A-F3A3618264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D66065-FB72-6594-8135-FE4B93B48C5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AF873DC-4C05-A025-BC2E-17F4A046C9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517F435-1AA5-F321-944E-B5B83F4CF5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91EDB5-5DBA-EE9B-CA11-97ACCBE467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0DE23F-407B-862B-2BDB-5CAADE8EFB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248645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309B453-9DC3-AA0A-2192-1DE2C857B9B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00F645C-A319-3D90-C713-A0D60DAFC85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DA9790-A6F4-727B-FD4F-69ED90F66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2DAEE58-D012-2330-2AD4-D35D57ED23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E1BE06D-76CD-6A95-8974-4ABB5C6B8F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6104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56E9B06-4AFE-0049-C213-46C607B5F4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AFC79AC-2558-D579-FD34-56A7D05E8E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352D96-335E-98E5-EAA5-C0121828B1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79000CD-5172-1B90-F36E-EFC3F4E1A4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BD02DEB-F5E2-2B64-517B-3CB4418F36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4765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EA9C38-3223-164F-39D4-56A60DA69C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C897044-2AAC-4189-A07B-73ED36E34BB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E3E7147-55AC-8465-5322-2192AC21E8B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DCEF112-B598-4C21-8AB9-6DEE66317084}" type="datetimeFigureOut">
              <a:rPr lang="en-US" smtClean="0"/>
              <a:t>6/19/2026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ECD669-AACD-5A74-A8BC-C56EB4F8CD2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C0EFBE4-1769-CAED-EDE8-9326752EA1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5E9355-D52C-4E7E-9434-57C1329BE69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81947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9B4D5F4-0CD3-FDC9-9BBB-E91A41067A29}"/>
              </a:ext>
            </a:extLst>
          </p:cNvPr>
          <p:cNvSpPr txBox="1"/>
          <p:nvPr/>
        </p:nvSpPr>
        <p:spPr>
          <a:xfrm>
            <a:off x="4142232" y="2551176"/>
            <a:ext cx="674827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Problem - 1</a:t>
            </a:r>
          </a:p>
        </p:txBody>
      </p:sp>
    </p:spTree>
    <p:extLst>
      <p:ext uri="{BB962C8B-B14F-4D97-AF65-F5344CB8AC3E}">
        <p14:creationId xmlns:p14="http://schemas.microsoft.com/office/powerpoint/2010/main" val="23856622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7C1F096-1C2C-5173-7342-5D67DF857AC7}"/>
              </a:ext>
            </a:extLst>
          </p:cNvPr>
          <p:cNvSpPr txBox="1"/>
          <p:nvPr/>
        </p:nvSpPr>
        <p:spPr>
          <a:xfrm>
            <a:off x="429768" y="728162"/>
            <a:ext cx="11494008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AutoNum type="arabicPeriod"/>
            </a:pPr>
            <a:r>
              <a:rPr lang="en-US" b="1" dirty="0"/>
              <a:t>Variables:</a:t>
            </a:r>
            <a:br>
              <a:rPr lang="en-US" dirty="0"/>
            </a:br>
            <a:r>
              <a:rPr lang="en-US" dirty="0"/>
              <a:t>total, average, </a:t>
            </a:r>
            <a:r>
              <a:rPr lang="en-US" dirty="0" err="1"/>
              <a:t>totalMarks</a:t>
            </a:r>
            <a:r>
              <a:rPr lang="en-US" dirty="0"/>
              <a:t>, </a:t>
            </a:r>
            <a:r>
              <a:rPr lang="en-US" dirty="0" err="1"/>
              <a:t>i</a:t>
            </a:r>
            <a:br>
              <a:rPr lang="en-US" dirty="0"/>
            </a:br>
            <a:r>
              <a:rPr lang="en-US" b="1" dirty="0"/>
              <a:t>2. Functions:</a:t>
            </a:r>
            <a:br>
              <a:rPr lang="en-US" dirty="0"/>
            </a:br>
            <a:r>
              <a:rPr lang="en-US" dirty="0"/>
              <a:t>main(), </a:t>
            </a:r>
            <a:r>
              <a:rPr lang="en-US" dirty="0" err="1"/>
              <a:t>printf</a:t>
            </a:r>
            <a:r>
              <a:rPr lang="en-US" dirty="0"/>
              <a:t>(), </a:t>
            </a:r>
            <a:r>
              <a:rPr lang="en-US" dirty="0" err="1"/>
              <a:t>scanf</a:t>
            </a:r>
            <a:r>
              <a:rPr lang="en-US" dirty="0"/>
              <a:t>(), </a:t>
            </a:r>
            <a:r>
              <a:rPr lang="en-US" dirty="0" err="1"/>
              <a:t>strcpy</a:t>
            </a:r>
            <a:r>
              <a:rPr lang="en-US" dirty="0"/>
              <a:t>()</a:t>
            </a:r>
            <a:br>
              <a:rPr lang="en-US" dirty="0"/>
            </a:br>
            <a:r>
              <a:rPr lang="en-US" b="1" dirty="0"/>
              <a:t>3. Loops:</a:t>
            </a:r>
            <a:br>
              <a:rPr lang="en-US" dirty="0"/>
            </a:br>
            <a:r>
              <a:rPr lang="en-US" dirty="0"/>
              <a:t>for </a:t>
            </a:r>
            <a:br>
              <a:rPr lang="en-US" dirty="0"/>
            </a:br>
            <a:r>
              <a:rPr lang="en-US" b="1" dirty="0"/>
              <a:t>4. Arrays:</a:t>
            </a:r>
            <a:br>
              <a:rPr lang="en-US" dirty="0"/>
            </a:br>
            <a:r>
              <a:rPr lang="en-US" dirty="0"/>
              <a:t>marks[], scores[], subject[], attendance[], </a:t>
            </a:r>
            <a:r>
              <a:rPr lang="en-US" dirty="0" err="1"/>
              <a:t>arr</a:t>
            </a:r>
            <a:r>
              <a:rPr lang="en-US" dirty="0"/>
              <a:t>[], grade[], prices[], inventory[], salary[], city[], result[] </a:t>
            </a:r>
            <a:br>
              <a:rPr lang="en-US" dirty="0"/>
            </a:br>
            <a:r>
              <a:rPr lang="en-US" b="1" dirty="0"/>
              <a:t>5. Structures:</a:t>
            </a:r>
            <a:br>
              <a:rPr lang="en-US" dirty="0"/>
            </a:br>
            <a:r>
              <a:rPr lang="en-US" dirty="0"/>
              <a:t>No structure is used</a:t>
            </a:r>
          </a:p>
          <a:p>
            <a:r>
              <a:rPr lang="en-US" dirty="0"/>
              <a:t>     </a:t>
            </a:r>
            <a:r>
              <a:rPr lang="en-US" b="1" dirty="0"/>
              <a:t>7. Pointers:</a:t>
            </a:r>
            <a:br>
              <a:rPr lang="en-US" dirty="0"/>
            </a:br>
            <a:r>
              <a:rPr lang="en-US" dirty="0"/>
              <a:t>        No pointers are used. 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63380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59478EA3-01F4-1900-0BD7-D6375955DDC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62011746"/>
              </p:ext>
            </p:extLst>
          </p:nvPr>
        </p:nvGraphicFramePr>
        <p:xfrm>
          <a:off x="162046" y="50800"/>
          <a:ext cx="12029956" cy="6715641"/>
        </p:xfrm>
        <a:graphic>
          <a:graphicData uri="http://schemas.openxmlformats.org/drawingml/2006/table">
            <a:tbl>
              <a:tblPr/>
              <a:tblGrid>
                <a:gridCol w="3007489">
                  <a:extLst>
                    <a:ext uri="{9D8B030D-6E8A-4147-A177-3AD203B41FA5}">
                      <a16:colId xmlns:a16="http://schemas.microsoft.com/office/drawing/2014/main" val="1698124690"/>
                    </a:ext>
                  </a:extLst>
                </a:gridCol>
                <a:gridCol w="3007489">
                  <a:extLst>
                    <a:ext uri="{9D8B030D-6E8A-4147-A177-3AD203B41FA5}">
                      <a16:colId xmlns:a16="http://schemas.microsoft.com/office/drawing/2014/main" val="750982238"/>
                    </a:ext>
                  </a:extLst>
                </a:gridCol>
                <a:gridCol w="3007489">
                  <a:extLst>
                    <a:ext uri="{9D8B030D-6E8A-4147-A177-3AD203B41FA5}">
                      <a16:colId xmlns:a16="http://schemas.microsoft.com/office/drawing/2014/main" val="1166815540"/>
                    </a:ext>
                  </a:extLst>
                </a:gridCol>
                <a:gridCol w="3007489">
                  <a:extLst>
                    <a:ext uri="{9D8B030D-6E8A-4147-A177-3AD203B41FA5}">
                      <a16:colId xmlns:a16="http://schemas.microsoft.com/office/drawing/2014/main" val="2718529854"/>
                    </a:ext>
                  </a:extLst>
                </a:gridCol>
              </a:tblGrid>
              <a:tr h="203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Line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Error Type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Error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Correction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53688960"/>
                  </a:ext>
                </a:extLst>
              </a:tr>
              <a:tr h="69229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Syntax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Missing ; after array initialization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int marks[5] = {80,90,70,60,50};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6513973"/>
                  </a:ext>
                </a:extLst>
              </a:tr>
              <a:tr h="36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12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Array Bounds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i</a:t>
                      </a:r>
                      <a:r>
                        <a:rPr lang="en-IN" sz="700" dirty="0">
                          <a:latin typeface="+mn-lt"/>
                        </a:rPr>
                        <a:t>&lt;=5 accesses marks[5]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i</a:t>
                      </a:r>
                      <a:r>
                        <a:rPr lang="en-IN" sz="700" dirty="0">
                          <a:latin typeface="+mn-lt"/>
                        </a:rPr>
                        <a:t>&lt;5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7417223"/>
                  </a:ext>
                </a:extLst>
              </a:tr>
              <a:tr h="529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20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Logical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Integer division stored in float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average = (float)total / 5;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0663739"/>
                  </a:ext>
                </a:extLst>
              </a:tr>
              <a:tr h="203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22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Format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%d used for float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%f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2474031"/>
                  </a:ext>
                </a:extLst>
              </a:tr>
              <a:tr h="529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34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Array Bounds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scores[5] out of bounds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Remove assignment or increase size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73056323"/>
                  </a:ext>
                </a:extLst>
              </a:tr>
              <a:tr h="36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46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Array too small for "Programming"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char subject[20];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5768563"/>
                  </a:ext>
                </a:extLst>
              </a:tr>
              <a:tr h="36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58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Semantic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String used as array index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attendance[1] = 1;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33246513"/>
                  </a:ext>
                </a:extLst>
              </a:tr>
              <a:tr h="36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60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Semantic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Float used as array index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attendance[2] = 1;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27830680"/>
                  </a:ext>
                </a:extLst>
              </a:tr>
              <a:tr h="36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70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Array Bounds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i&lt;=5 accesses attendance[5]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i</a:t>
                      </a:r>
                      <a:r>
                        <a:rPr lang="en-IN" sz="700" dirty="0">
                          <a:latin typeface="+mn-lt"/>
                        </a:rPr>
                        <a:t>&lt;5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8329561"/>
                  </a:ext>
                </a:extLst>
              </a:tr>
              <a:tr h="36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82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Syntax / Semantic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Missing &amp; in scanf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scanf</a:t>
                      </a:r>
                      <a:r>
                        <a:rPr lang="en-IN" sz="700" dirty="0">
                          <a:latin typeface="+mn-lt"/>
                        </a:rPr>
                        <a:t>("%d",&amp;</a:t>
                      </a:r>
                      <a:r>
                        <a:rPr lang="en-IN" sz="700" dirty="0" err="1">
                          <a:latin typeface="+mn-lt"/>
                        </a:rPr>
                        <a:t>arr</a:t>
                      </a:r>
                      <a:r>
                        <a:rPr lang="en-IN" sz="700" dirty="0">
                          <a:latin typeface="+mn-lt"/>
                        </a:rPr>
                        <a:t>[</a:t>
                      </a:r>
                      <a:r>
                        <a:rPr lang="en-IN" sz="700" dirty="0" err="1">
                          <a:latin typeface="+mn-lt"/>
                        </a:rPr>
                        <a:t>i</a:t>
                      </a:r>
                      <a:r>
                        <a:rPr lang="en-IN" sz="700" dirty="0">
                          <a:latin typeface="+mn-lt"/>
                        </a:rPr>
                        <a:t>]);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11068569"/>
                  </a:ext>
                </a:extLst>
              </a:tr>
              <a:tr h="36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98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Semantic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String assigned to char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grade[0]='A';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183061"/>
                  </a:ext>
                </a:extLst>
              </a:tr>
              <a:tr h="529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107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Logical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Assignment instead of comparison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if(prices[2] == 300)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48196510"/>
                  </a:ext>
                </a:extLst>
              </a:tr>
              <a:tr h="52928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116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Semantic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Whole array cannot be assigned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Copy elements using loop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5117883"/>
                  </a:ext>
                </a:extLst>
              </a:tr>
              <a:tr h="20325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126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Format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%d used for float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%f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82194884"/>
                  </a:ext>
                </a:extLst>
              </a:tr>
              <a:tr h="36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134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Semantic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Array cannot be assigned string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strcpy</a:t>
                      </a:r>
                      <a:r>
                        <a:rPr lang="en-IN" sz="700" dirty="0">
                          <a:latin typeface="+mn-lt"/>
                        </a:rPr>
                        <a:t>(</a:t>
                      </a:r>
                      <a:r>
                        <a:rPr lang="en-IN" sz="700" dirty="0" err="1">
                          <a:latin typeface="+mn-lt"/>
                        </a:rPr>
                        <a:t>city,"Jaipur</a:t>
                      </a:r>
                      <a:r>
                        <a:rPr lang="en-IN" sz="700" dirty="0">
                          <a:latin typeface="+mn-lt"/>
                        </a:rPr>
                        <a:t>");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1492832"/>
                  </a:ext>
                </a:extLst>
              </a:tr>
              <a:tr h="3662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142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Array Bounds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+mn-lt"/>
                        </a:rPr>
                        <a:t>i&lt;=5 accesses result[5]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i</a:t>
                      </a:r>
                      <a:r>
                        <a:rPr lang="en-IN" sz="700" dirty="0">
                          <a:latin typeface="+mn-lt"/>
                        </a:rPr>
                        <a:t>&lt;5</a:t>
                      </a:r>
                    </a:p>
                  </a:txBody>
                  <a:tcPr marL="26372" marR="26372" marT="13186" marB="1318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49450150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A0C1412-34B5-141A-25F2-D05BF75DE5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-2372926" y="7377372"/>
            <a:ext cx="2618355" cy="578215"/>
          </a:xfrm>
        </p:spPr>
        <p:txBody>
          <a:bodyPr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77075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8EB97-4202-6AF2-290A-350925416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23E22232-4FCA-9369-9A4C-5320C2100B34}"/>
              </a:ext>
            </a:extLst>
          </p:cNvPr>
          <p:cNvSpPr txBox="1"/>
          <p:nvPr/>
        </p:nvSpPr>
        <p:spPr>
          <a:xfrm>
            <a:off x="3943350" y="2897291"/>
            <a:ext cx="609447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6000" dirty="0"/>
              <a:t>Problem - 2</a:t>
            </a:r>
          </a:p>
        </p:txBody>
      </p:sp>
    </p:spTree>
    <p:extLst>
      <p:ext uri="{BB962C8B-B14F-4D97-AF65-F5344CB8AC3E}">
        <p14:creationId xmlns:p14="http://schemas.microsoft.com/office/powerpoint/2010/main" val="30205959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3096CE-135D-7CA8-DBCC-785C996100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91300616-0DAF-B830-B10F-80EAC116FD02}"/>
              </a:ext>
            </a:extLst>
          </p:cNvPr>
          <p:cNvSpPr txBox="1"/>
          <p:nvPr/>
        </p:nvSpPr>
        <p:spPr>
          <a:xfrm>
            <a:off x="310896" y="118872"/>
            <a:ext cx="9948672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Variables:</a:t>
            </a:r>
            <a:br>
              <a:rPr lang="en-US" dirty="0"/>
            </a:br>
            <a:r>
              <a:rPr lang="en-US" dirty="0"/>
              <a:t>sum, average, highest, present, </a:t>
            </a:r>
            <a:r>
              <a:rPr lang="en-US" dirty="0" err="1"/>
              <a:t>totalResult</a:t>
            </a:r>
            <a:r>
              <a:rPr lang="en-US" dirty="0"/>
              <a:t>, </a:t>
            </a:r>
            <a:r>
              <a:rPr lang="en-US" dirty="0" err="1"/>
              <a:t>i</a:t>
            </a:r>
            <a:r>
              <a:rPr lang="en-US" dirty="0"/>
              <a:t> and arrays like numbers, marks, attendance, subject, branch, college, fees, result, stock, backup, salary, inventory, city, count. </a:t>
            </a:r>
          </a:p>
          <a:p>
            <a:pPr>
              <a:buNone/>
            </a:pPr>
            <a:r>
              <a:rPr lang="en-US" b="1" dirty="0"/>
              <a:t>2. Functions:</a:t>
            </a:r>
            <a:br>
              <a:rPr lang="en-US" dirty="0"/>
            </a:br>
            <a:r>
              <a:rPr lang="en-US" dirty="0"/>
              <a:t>main(), </a:t>
            </a:r>
            <a:r>
              <a:rPr lang="en-US" dirty="0" err="1"/>
              <a:t>printf</a:t>
            </a:r>
            <a:r>
              <a:rPr lang="en-US" dirty="0"/>
              <a:t>(), </a:t>
            </a:r>
            <a:r>
              <a:rPr lang="en-US" dirty="0" err="1"/>
              <a:t>scanf</a:t>
            </a:r>
            <a:r>
              <a:rPr lang="en-US" dirty="0"/>
              <a:t>(), </a:t>
            </a:r>
            <a:r>
              <a:rPr lang="en-US" dirty="0" err="1"/>
              <a:t>strcpy</a:t>
            </a:r>
            <a:r>
              <a:rPr lang="en-US" dirty="0"/>
              <a:t>() </a:t>
            </a:r>
          </a:p>
          <a:p>
            <a:pPr>
              <a:buNone/>
            </a:pPr>
            <a:r>
              <a:rPr lang="en-US" b="1" dirty="0"/>
              <a:t>3. Loops:</a:t>
            </a:r>
            <a:br>
              <a:rPr lang="en-US" dirty="0"/>
            </a:br>
            <a:r>
              <a:rPr lang="en-US" dirty="0"/>
              <a:t>for. </a:t>
            </a:r>
          </a:p>
          <a:p>
            <a:pPr>
              <a:buNone/>
            </a:pPr>
            <a:r>
              <a:rPr lang="en-US" b="1" dirty="0"/>
              <a:t>4. Arrays:</a:t>
            </a:r>
            <a:br>
              <a:rPr lang="en-US" dirty="0"/>
            </a:br>
            <a:r>
              <a:rPr lang="en-US" dirty="0"/>
              <a:t>numbers[], marks[], attendance[], subject[], branch[], college[], fees[], result[], stock[], backup[], salary[], inventory[], city[], count[] </a:t>
            </a:r>
          </a:p>
          <a:p>
            <a:pPr>
              <a:buNone/>
            </a:pPr>
            <a:r>
              <a:rPr lang="en-US" b="1" dirty="0"/>
              <a:t>5. Structures:</a:t>
            </a:r>
            <a:br>
              <a:rPr lang="en-US" dirty="0"/>
            </a:br>
            <a:r>
              <a:rPr lang="en-US" dirty="0"/>
              <a:t>No structure is used.</a:t>
            </a:r>
          </a:p>
          <a:p>
            <a:pPr>
              <a:buNone/>
            </a:pPr>
            <a:r>
              <a:rPr lang="en-US" b="1" dirty="0"/>
              <a:t>6. File Operations:</a:t>
            </a:r>
            <a:br>
              <a:rPr lang="en-US" dirty="0"/>
            </a:br>
            <a:r>
              <a:rPr lang="en-US" dirty="0"/>
              <a:t>No file operations are used. </a:t>
            </a:r>
          </a:p>
          <a:p>
            <a:pPr>
              <a:buNone/>
            </a:pPr>
            <a:r>
              <a:rPr lang="en-US" b="1" dirty="0"/>
              <a:t>7. Pointers:</a:t>
            </a:r>
            <a:br>
              <a:rPr lang="en-US" dirty="0"/>
            </a:br>
            <a:r>
              <a:rPr lang="en-US" dirty="0"/>
              <a:t>No pointers are used. </a:t>
            </a:r>
          </a:p>
        </p:txBody>
      </p:sp>
    </p:spTree>
    <p:extLst>
      <p:ext uri="{BB962C8B-B14F-4D97-AF65-F5344CB8AC3E}">
        <p14:creationId xmlns:p14="http://schemas.microsoft.com/office/powerpoint/2010/main" val="42248878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BE0DA2EB-286A-E68A-D308-57B4CC796A1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2772068"/>
              </p:ext>
            </p:extLst>
          </p:nvPr>
        </p:nvGraphicFramePr>
        <p:xfrm>
          <a:off x="111760" y="35497"/>
          <a:ext cx="12009120" cy="6822500"/>
        </p:xfrm>
        <a:graphic>
          <a:graphicData uri="http://schemas.openxmlformats.org/drawingml/2006/table">
            <a:tbl>
              <a:tblPr/>
              <a:tblGrid>
                <a:gridCol w="3002280">
                  <a:extLst>
                    <a:ext uri="{9D8B030D-6E8A-4147-A177-3AD203B41FA5}">
                      <a16:colId xmlns:a16="http://schemas.microsoft.com/office/drawing/2014/main" val="1130797698"/>
                    </a:ext>
                  </a:extLst>
                </a:gridCol>
                <a:gridCol w="3002280">
                  <a:extLst>
                    <a:ext uri="{9D8B030D-6E8A-4147-A177-3AD203B41FA5}">
                      <a16:colId xmlns:a16="http://schemas.microsoft.com/office/drawing/2014/main" val="384139508"/>
                    </a:ext>
                  </a:extLst>
                </a:gridCol>
                <a:gridCol w="3002280">
                  <a:extLst>
                    <a:ext uri="{9D8B030D-6E8A-4147-A177-3AD203B41FA5}">
                      <a16:colId xmlns:a16="http://schemas.microsoft.com/office/drawing/2014/main" val="2371046842"/>
                    </a:ext>
                  </a:extLst>
                </a:gridCol>
                <a:gridCol w="3002280">
                  <a:extLst>
                    <a:ext uri="{9D8B030D-6E8A-4147-A177-3AD203B41FA5}">
                      <a16:colId xmlns:a16="http://schemas.microsoft.com/office/drawing/2014/main" val="4288555893"/>
                    </a:ext>
                  </a:extLst>
                </a:gridCol>
              </a:tblGrid>
              <a:tr h="22442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Line No.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Error Type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Error Description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Correction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77938949"/>
                  </a:ext>
                </a:extLst>
              </a:tr>
              <a:tr h="58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15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Runtime / Array Bounds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&lt;=10 accesses numbers[10] (valid indices 0-9)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for(int 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=0;i&lt;10;i++)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91739401"/>
                  </a:ext>
                </a:extLst>
              </a:tr>
              <a:tr h="76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27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Logical Error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sum = numbers[i]; overwrites sum instead of adding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sum += numbers[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];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45494390"/>
                  </a:ext>
                </a:extLst>
              </a:tr>
              <a:tr h="58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34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Logical Error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Integer division used for average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average = (float)sum / 10;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52413993"/>
                  </a:ext>
                </a:extLst>
              </a:tr>
              <a:tr h="58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36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Format Specifier Error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Printing float using %d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>
                          <a:latin typeface="+mn-lt"/>
                        </a:rPr>
                        <a:t>printf</a:t>
                      </a:r>
                      <a:r>
                        <a:rPr lang="en-IN" sz="800" dirty="0">
                          <a:latin typeface="+mn-lt"/>
                        </a:rPr>
                        <a:t>("Average = %.2f\n", average);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53698428"/>
                  </a:ext>
                </a:extLst>
              </a:tr>
              <a:tr h="403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47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Logical Error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Highest mark logic reversed (&lt;)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if(marks[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] &gt; highest)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7237547"/>
                  </a:ext>
                </a:extLst>
              </a:tr>
              <a:tr h="58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66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Runtime / Array Bounds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attendance[5] = 1; exceeds array size (0-4)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Remove statement or increase array size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65024210"/>
                  </a:ext>
                </a:extLst>
              </a:tr>
              <a:tr h="40396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70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Runtime / Array Bounds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i&lt;=5 accesses attendance[5]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for(int 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=0;i&lt;5;i++)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42954527"/>
                  </a:ext>
                </a:extLst>
              </a:tr>
              <a:tr h="76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82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Buffer Overflow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"ComputerScience" (15 chars) exceeds subject[10]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char subject[20];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8296464"/>
                  </a:ext>
                </a:extLst>
              </a:tr>
              <a:tr h="58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90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Syntax Error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Cannot assign string directly to array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>
                          <a:latin typeface="+mn-lt"/>
                        </a:rPr>
                        <a:t>strcpy</a:t>
                      </a:r>
                      <a:r>
                        <a:rPr lang="en-IN" sz="800" dirty="0">
                          <a:latin typeface="+mn-lt"/>
                        </a:rPr>
                        <a:t>(</a:t>
                      </a:r>
                      <a:r>
                        <a:rPr lang="en-IN" sz="800" dirty="0" err="1">
                          <a:latin typeface="+mn-lt"/>
                        </a:rPr>
                        <a:t>branch,"IT</a:t>
                      </a:r>
                      <a:r>
                        <a:rPr lang="en-IN" sz="800" dirty="0">
                          <a:latin typeface="+mn-lt"/>
                        </a:rPr>
                        <a:t>");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45411893"/>
                  </a:ext>
                </a:extLst>
              </a:tr>
              <a:tr h="5835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102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Logical Error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String not null terminated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Add college[5]='\0';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2333985"/>
                  </a:ext>
                </a:extLst>
              </a:tr>
              <a:tr h="76304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104*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Possible Output Error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Printing college before null termination may print garbage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Ensure null terminator exists</a:t>
                      </a:r>
                    </a:p>
                  </a:txBody>
                  <a:tcPr marL="28627" marR="28627" marT="14314" marB="14314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18852184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5EB1BF2-4104-534D-C6DD-6CF5306C5F2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3962399"/>
            <a:ext cx="1722120" cy="2214563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354233470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5C69D4A-3119-2039-2567-0901B4CBB40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08852477"/>
              </p:ext>
            </p:extLst>
          </p:nvPr>
        </p:nvGraphicFramePr>
        <p:xfrm>
          <a:off x="274320" y="6773"/>
          <a:ext cx="11704320" cy="6770406"/>
        </p:xfrm>
        <a:graphic>
          <a:graphicData uri="http://schemas.openxmlformats.org/drawingml/2006/table">
            <a:tbl>
              <a:tblPr/>
              <a:tblGrid>
                <a:gridCol w="2926080">
                  <a:extLst>
                    <a:ext uri="{9D8B030D-6E8A-4147-A177-3AD203B41FA5}">
                      <a16:colId xmlns:a16="http://schemas.microsoft.com/office/drawing/2014/main" val="2305707356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500553041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3022447334"/>
                    </a:ext>
                  </a:extLst>
                </a:gridCol>
                <a:gridCol w="2926080">
                  <a:extLst>
                    <a:ext uri="{9D8B030D-6E8A-4147-A177-3AD203B41FA5}">
                      <a16:colId xmlns:a16="http://schemas.microsoft.com/office/drawing/2014/main" val="63912"/>
                    </a:ext>
                  </a:extLst>
                </a:gridCol>
              </a:tblGrid>
              <a:tr h="24354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Line No.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Error Type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Error Description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Correction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11889135"/>
                  </a:ext>
                </a:extLst>
              </a:tr>
              <a:tr h="63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108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Semantic Error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Array index must be integer, </a:t>
                      </a:r>
                      <a:r>
                        <a:rPr lang="en-IN" sz="800">
                          <a:latin typeface="Courier New" panose="02070309020205020404" pitchFamily="49" charset="0"/>
                        </a:rPr>
                        <a:t>"two"</a:t>
                      </a:r>
                      <a:r>
                        <a:rPr lang="en-IN" sz="800"/>
                        <a:t> is a string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fees[2] = 50000;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64547273"/>
                  </a:ext>
                </a:extLst>
              </a:tr>
              <a:tr h="43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110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Semantic Error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Array index cannot be float (</a:t>
                      </a:r>
                      <a:r>
                        <a:rPr lang="en-IN" sz="800">
                          <a:latin typeface="Courier New" panose="02070309020205020404" pitchFamily="49" charset="0"/>
                        </a:rPr>
                        <a:t>3.5</a:t>
                      </a:r>
                      <a:r>
                        <a:rPr lang="en-IN" sz="800"/>
                        <a:t>)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fees[3] = 60000;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60895525"/>
                  </a:ext>
                </a:extLst>
              </a:tr>
              <a:tr h="43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128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Runtime / Input Error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Missing </a:t>
                      </a:r>
                      <a:r>
                        <a:rPr lang="en-IN" sz="800" dirty="0">
                          <a:latin typeface="Courier New" panose="02070309020205020404" pitchFamily="49" charset="0"/>
                        </a:rPr>
                        <a:t>&amp;</a:t>
                      </a:r>
                      <a:r>
                        <a:rPr lang="en-IN" sz="800" dirty="0"/>
                        <a:t> in </a:t>
                      </a:r>
                      <a:r>
                        <a:rPr lang="en-IN" sz="800" dirty="0" err="1">
                          <a:latin typeface="Courier New" panose="02070309020205020404" pitchFamily="49" charset="0"/>
                        </a:rPr>
                        <a:t>scanf</a:t>
                      </a:r>
                      <a:r>
                        <a:rPr lang="en-IN" sz="800" dirty="0">
                          <a:latin typeface="Courier New" panose="02070309020205020404" pitchFamily="49" charset="0"/>
                        </a:rPr>
                        <a:t>()</a:t>
                      </a:r>
                      <a:endParaRPr lang="en-IN" sz="800" dirty="0"/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scanf("%d", &amp;result[i]);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87925246"/>
                  </a:ext>
                </a:extLst>
              </a:tr>
              <a:tr h="43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144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Logical Error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Assignment used in condition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if(stock[2] == 300)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75195083"/>
                  </a:ext>
                </a:extLst>
              </a:tr>
              <a:tr h="102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153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Syntax/Semantic Error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Arrays cannot be assigned directly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Use loop: for(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=0;i&lt;5;i++) backup[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]=stock[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];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5360893"/>
                  </a:ext>
                </a:extLst>
              </a:tr>
              <a:tr h="63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162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Format Specifier Error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Printing float using </a:t>
                      </a:r>
                      <a:r>
                        <a:rPr lang="en-IN" sz="800">
                          <a:latin typeface="Courier New" panose="02070309020205020404" pitchFamily="49" charset="0"/>
                        </a:rPr>
                        <a:t>%d</a:t>
                      </a:r>
                      <a:endParaRPr lang="en-IN" sz="800"/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>
                          <a:latin typeface="+mn-lt"/>
                        </a:rPr>
                        <a:t>printf</a:t>
                      </a:r>
                      <a:r>
                        <a:rPr lang="en-IN" sz="800" dirty="0">
                          <a:latin typeface="+mn-lt"/>
                        </a:rPr>
                        <a:t>("%.2f\n", salary[0]);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39359375"/>
                  </a:ext>
                </a:extLst>
              </a:tr>
              <a:tr h="43837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168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Runtime / Array Bounds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800"/>
                        <a:t> accesses </a:t>
                      </a:r>
                      <a:r>
                        <a:rPr lang="en-IN" sz="800">
                          <a:latin typeface="Courier New" panose="02070309020205020404" pitchFamily="49" charset="0"/>
                        </a:rPr>
                        <a:t>inventory[5]</a:t>
                      </a:r>
                      <a:endParaRPr lang="en-IN" sz="800"/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+mn-lt"/>
                        </a:rPr>
                        <a:t>for(int i=0;i&lt;5;i++)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554809"/>
                  </a:ext>
                </a:extLst>
              </a:tr>
              <a:tr h="63320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184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Buffer Overflow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>
                          <a:latin typeface="Courier New" panose="02070309020205020404" pitchFamily="49" charset="0"/>
                        </a:rPr>
                        <a:t>"JaipurCity"</a:t>
                      </a:r>
                      <a:r>
                        <a:rPr lang="en-IN" sz="800"/>
                        <a:t> (10 chars) exceeds </a:t>
                      </a:r>
                      <a:r>
                        <a:rPr lang="en-IN" sz="800">
                          <a:latin typeface="Courier New" panose="02070309020205020404" pitchFamily="49" charset="0"/>
                        </a:rPr>
                        <a:t>city[8]</a:t>
                      </a:r>
                      <a:endParaRPr lang="en-IN" sz="800"/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char city[11];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9355996"/>
                  </a:ext>
                </a:extLst>
              </a:tr>
              <a:tr h="102286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193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Syntax/Semantic Error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Arrays cannot be assigned directly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>
                          <a:latin typeface="+mn-lt"/>
                        </a:rPr>
                        <a:t>Use loop: for(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=0;i&lt;5;i++) count[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]=inventory[</a:t>
                      </a:r>
                      <a:r>
                        <a:rPr lang="en-IN" sz="800" dirty="0" err="1">
                          <a:latin typeface="+mn-lt"/>
                        </a:rPr>
                        <a:t>i</a:t>
                      </a:r>
                      <a:r>
                        <a:rPr lang="en-IN" sz="800" dirty="0">
                          <a:latin typeface="+mn-lt"/>
                        </a:rPr>
                        <a:t>];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8730946"/>
                  </a:ext>
                </a:extLst>
              </a:tr>
              <a:tr h="8280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/>
                        <a:t>199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Syntax Error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/>
                        <a:t>Missing semicolon after </a:t>
                      </a:r>
                      <a:r>
                        <a:rPr lang="en-IN" sz="800">
                          <a:latin typeface="Courier New" panose="02070309020205020404" pitchFamily="49" charset="0"/>
                        </a:rPr>
                        <a:t>printf("Program Ended\n")</a:t>
                      </a:r>
                      <a:endParaRPr lang="en-IN" sz="800"/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800" dirty="0" err="1">
                          <a:latin typeface="+mn-lt"/>
                        </a:rPr>
                        <a:t>printf</a:t>
                      </a:r>
                      <a:r>
                        <a:rPr lang="en-IN" sz="800" dirty="0">
                          <a:latin typeface="+mn-lt"/>
                        </a:rPr>
                        <a:t>("Program Ended\n");</a:t>
                      </a:r>
                    </a:p>
                  </a:txBody>
                  <a:tcPr marL="31304" marR="31304" marT="15652" marB="15652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87363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61E3913-3A94-7798-5AF2-2B05907C05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40360" cy="358775"/>
          </a:xfrm>
        </p:spPr>
        <p:txBody>
          <a:bodyPr>
            <a:normAutofit fontScale="77500" lnSpcReduction="20000"/>
          </a:bodyPr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10807390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1DDD15-CE6F-CFA1-CDDE-27640FDD56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DEB2127-BA21-330E-4E0A-7969A964293D}"/>
              </a:ext>
            </a:extLst>
          </p:cNvPr>
          <p:cNvSpPr txBox="1"/>
          <p:nvPr/>
        </p:nvSpPr>
        <p:spPr>
          <a:xfrm>
            <a:off x="3675888" y="2413337"/>
            <a:ext cx="657453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Problem - 3</a:t>
            </a:r>
          </a:p>
        </p:txBody>
      </p:sp>
    </p:spTree>
    <p:extLst>
      <p:ext uri="{BB962C8B-B14F-4D97-AF65-F5344CB8AC3E}">
        <p14:creationId xmlns:p14="http://schemas.microsoft.com/office/powerpoint/2010/main" val="99693405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FCF34E-33BE-B329-07DB-6B4E166C1B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72855D1-BDEE-F6B2-08EC-AB1323D000CE}"/>
              </a:ext>
            </a:extLst>
          </p:cNvPr>
          <p:cNvSpPr txBox="1"/>
          <p:nvPr/>
        </p:nvSpPr>
        <p:spPr>
          <a:xfrm>
            <a:off x="173736" y="474345"/>
            <a:ext cx="11000232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 Variables:</a:t>
            </a:r>
            <a:br>
              <a:rPr lang="en-US" dirty="0"/>
            </a:br>
            <a:r>
              <a:rPr lang="en-US" dirty="0"/>
              <a:t>total, average, highest, lowest, present, </a:t>
            </a:r>
            <a:r>
              <a:rPr lang="en-US" dirty="0" err="1"/>
              <a:t>totalResult</a:t>
            </a:r>
            <a:r>
              <a:rPr lang="en-US" dirty="0"/>
              <a:t>, </a:t>
            </a:r>
            <a:r>
              <a:rPr lang="en-US" dirty="0" err="1"/>
              <a:t>i</a:t>
            </a:r>
            <a:endParaRPr lang="en-US" dirty="0"/>
          </a:p>
          <a:p>
            <a:pPr>
              <a:buNone/>
            </a:pPr>
            <a:r>
              <a:rPr lang="en-US" b="1" dirty="0"/>
              <a:t>2. Functions:</a:t>
            </a:r>
            <a:br>
              <a:rPr lang="en-US" dirty="0"/>
            </a:br>
            <a:r>
              <a:rPr lang="en-US" dirty="0"/>
              <a:t>main(), </a:t>
            </a:r>
            <a:r>
              <a:rPr lang="en-US" dirty="0" err="1"/>
              <a:t>printf</a:t>
            </a:r>
            <a:r>
              <a:rPr lang="en-US" dirty="0"/>
              <a:t>(), </a:t>
            </a:r>
            <a:r>
              <a:rPr lang="en-US" dirty="0" err="1"/>
              <a:t>scanf</a:t>
            </a:r>
            <a:r>
              <a:rPr lang="en-US" dirty="0"/>
              <a:t>(), </a:t>
            </a:r>
            <a:r>
              <a:rPr lang="en-US" dirty="0" err="1"/>
              <a:t>strcpy</a:t>
            </a:r>
            <a:r>
              <a:rPr lang="en-US" dirty="0"/>
              <a:t>() </a:t>
            </a:r>
          </a:p>
          <a:p>
            <a:pPr>
              <a:buNone/>
            </a:pPr>
            <a:r>
              <a:rPr lang="en-US" b="1" dirty="0"/>
              <a:t>3. Loops:</a:t>
            </a:r>
            <a:br>
              <a:rPr lang="en-US" dirty="0"/>
            </a:br>
            <a:r>
              <a:rPr lang="en-US" dirty="0"/>
              <a:t>for.</a:t>
            </a:r>
          </a:p>
          <a:p>
            <a:pPr>
              <a:buNone/>
            </a:pPr>
            <a:r>
              <a:rPr lang="en-US" b="1" dirty="0"/>
              <a:t>4. Arrays:</a:t>
            </a:r>
            <a:br>
              <a:rPr lang="en-US" dirty="0"/>
            </a:br>
            <a:r>
              <a:rPr lang="en-US" dirty="0"/>
              <a:t>marks[], attendance[], subject[], branch[], fees[], stock[], backup[], salary[], result[], city[], inventory[], college[], count[], course[], numbers[] </a:t>
            </a:r>
          </a:p>
          <a:p>
            <a:pPr>
              <a:buNone/>
            </a:pPr>
            <a:r>
              <a:rPr lang="en-US" b="1" dirty="0"/>
              <a:t>5. Structures:</a:t>
            </a:r>
            <a:br>
              <a:rPr lang="en-US" dirty="0"/>
            </a:br>
            <a:r>
              <a:rPr lang="en-US" dirty="0"/>
              <a:t>No structure is used. </a:t>
            </a:r>
          </a:p>
          <a:p>
            <a:pPr>
              <a:buNone/>
            </a:pPr>
            <a:r>
              <a:rPr lang="en-US" b="1" dirty="0"/>
              <a:t>6. File Operations:</a:t>
            </a:r>
            <a:br>
              <a:rPr lang="en-US" dirty="0"/>
            </a:br>
            <a:r>
              <a:rPr lang="en-US" dirty="0"/>
              <a:t>No file operations are used. </a:t>
            </a:r>
          </a:p>
          <a:p>
            <a:pPr>
              <a:buNone/>
            </a:pPr>
            <a:r>
              <a:rPr lang="en-US" b="1" dirty="0"/>
              <a:t>7. Pointers:</a:t>
            </a:r>
            <a:br>
              <a:rPr lang="en-US" dirty="0"/>
            </a:br>
            <a:r>
              <a:rPr lang="en-US" dirty="0"/>
              <a:t>No pointers are used. </a:t>
            </a:r>
          </a:p>
        </p:txBody>
      </p:sp>
    </p:spTree>
    <p:extLst>
      <p:ext uri="{BB962C8B-B14F-4D97-AF65-F5344CB8AC3E}">
        <p14:creationId xmlns:p14="http://schemas.microsoft.com/office/powerpoint/2010/main" val="392258317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5FEA6CF-081A-ABC2-2EC8-8F6BD0DF114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91486051"/>
              </p:ext>
            </p:extLst>
          </p:nvPr>
        </p:nvGraphicFramePr>
        <p:xfrm>
          <a:off x="0" y="4932"/>
          <a:ext cx="12192000" cy="685306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71466488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629739886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76612832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838588663"/>
                    </a:ext>
                  </a:extLst>
                </a:gridCol>
              </a:tblGrid>
              <a:tr h="28794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Line No.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Error Type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Error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Correction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145032"/>
                  </a:ext>
                </a:extLst>
              </a:tr>
              <a:tr h="748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20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Logical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Integer division used for average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+mn-lt"/>
                        </a:rPr>
                        <a:t>average = (float)total / 5;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3398005"/>
                  </a:ext>
                </a:extLst>
              </a:tr>
              <a:tr h="748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41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Logical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Lowest mark condition wrong (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&gt;</a:t>
                      </a:r>
                      <a:r>
                        <a:rPr lang="en-IN" sz="1000"/>
                        <a:t>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+mn-lt"/>
                        </a:rPr>
                        <a:t>if(marks[</a:t>
                      </a:r>
                      <a:r>
                        <a:rPr lang="en-IN" sz="1000" dirty="0" err="1">
                          <a:latin typeface="+mn-lt"/>
                        </a:rPr>
                        <a:t>i</a:t>
                      </a:r>
                      <a:r>
                        <a:rPr lang="en-IN" sz="1000" dirty="0">
                          <a:latin typeface="+mn-lt"/>
                        </a:rPr>
                        <a:t>] &lt; lowest)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67915811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57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Runtime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Array index out of bounds (</a:t>
                      </a:r>
                      <a:r>
                        <a:rPr lang="en-IN" sz="10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1000"/>
                        <a:t>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+mn-lt"/>
                        </a:rPr>
                        <a:t>for(int i=0;i&lt;5;i++)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64624001"/>
                  </a:ext>
                </a:extLst>
              </a:tr>
              <a:tr h="748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68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Runtime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subject[8]</a:t>
                      </a:r>
                      <a:r>
                        <a:rPr lang="en-IN" sz="1000"/>
                        <a:t> too small for "Programming"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+mn-lt"/>
                        </a:rPr>
                        <a:t>char subject[20];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423632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/>
                        <a:t>70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Runtime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Buffer overflow in strcpy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+mn-lt"/>
                        </a:rPr>
                        <a:t>Increase array size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4980915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78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Semantic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Wrong scanf argument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 err="1">
                          <a:latin typeface="+mn-lt"/>
                        </a:rPr>
                        <a:t>scanf</a:t>
                      </a:r>
                      <a:r>
                        <a:rPr lang="en-IN" sz="1000" dirty="0">
                          <a:latin typeface="+mn-lt"/>
                        </a:rPr>
                        <a:t>("%9s", branch);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89952193"/>
                  </a:ext>
                </a:extLst>
              </a:tr>
              <a:tr h="748654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86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Runtime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fees[5]</a:t>
                      </a:r>
                      <a:r>
                        <a:rPr lang="en-IN" sz="1000"/>
                        <a:t> out of bounds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+mn-lt"/>
                        </a:rPr>
                        <a:t>Remove assignment or make array size 6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506793094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98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Logical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Assignment used in if condition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+mn-lt"/>
                        </a:rPr>
                        <a:t>if(stock[2] == 30)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20085759"/>
                  </a:ext>
                </a:extLst>
              </a:tr>
              <a:tr h="51829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105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Semantic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Cannot assign one array to another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+mn-lt"/>
                        </a:rPr>
                        <a:t>Use loop or </a:t>
                      </a:r>
                      <a:r>
                        <a:rPr lang="en-IN" sz="1000" dirty="0" err="1">
                          <a:latin typeface="+mn-lt"/>
                        </a:rPr>
                        <a:t>memcpy</a:t>
                      </a:r>
                      <a:r>
                        <a:rPr lang="en-IN" sz="1000" dirty="0">
                          <a:latin typeface="+mn-lt"/>
                        </a:rPr>
                        <a:t>()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14053861"/>
                  </a:ext>
                </a:extLst>
              </a:tr>
              <a:tr h="9790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107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/>
                        <a:t>Semantic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>
                          <a:latin typeface="Courier New" panose="02070309020205020404" pitchFamily="49" charset="0"/>
                        </a:rPr>
                        <a:t>backup[0]</a:t>
                      </a:r>
                      <a:r>
                        <a:rPr lang="en-IN" sz="1000"/>
                        <a:t> may contain garbage because copy failed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000" dirty="0">
                          <a:latin typeface="+mn-lt"/>
                        </a:rPr>
                        <a:t>Copy array first</a:t>
                      </a:r>
                    </a:p>
                  </a:txBody>
                  <a:tcPr marL="36566" marR="36566" marT="18283" marB="182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59394669"/>
                  </a:ext>
                </a:extLst>
              </a:tr>
            </a:tbl>
          </a:graphicData>
        </a:graphic>
      </p:graphicFrame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CBFC26-436E-606E-0E5C-CE7C4F4C55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248920" cy="399415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02263962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67C3E3-26A2-0F62-B103-CDA4600D3D0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25138707"/>
              </p:ext>
            </p:extLst>
          </p:nvPr>
        </p:nvGraphicFramePr>
        <p:xfrm>
          <a:off x="0" y="40885"/>
          <a:ext cx="12120880" cy="6776234"/>
        </p:xfrm>
        <a:graphic>
          <a:graphicData uri="http://schemas.openxmlformats.org/drawingml/2006/table">
            <a:tbl>
              <a:tblPr/>
              <a:tblGrid>
                <a:gridCol w="3030220">
                  <a:extLst>
                    <a:ext uri="{9D8B030D-6E8A-4147-A177-3AD203B41FA5}">
                      <a16:colId xmlns:a16="http://schemas.microsoft.com/office/drawing/2014/main" val="2591379335"/>
                    </a:ext>
                  </a:extLst>
                </a:gridCol>
                <a:gridCol w="3030220">
                  <a:extLst>
                    <a:ext uri="{9D8B030D-6E8A-4147-A177-3AD203B41FA5}">
                      <a16:colId xmlns:a16="http://schemas.microsoft.com/office/drawing/2014/main" val="4182445004"/>
                    </a:ext>
                  </a:extLst>
                </a:gridCol>
                <a:gridCol w="3030220">
                  <a:extLst>
                    <a:ext uri="{9D8B030D-6E8A-4147-A177-3AD203B41FA5}">
                      <a16:colId xmlns:a16="http://schemas.microsoft.com/office/drawing/2014/main" val="2571741863"/>
                    </a:ext>
                  </a:extLst>
                </a:gridCol>
                <a:gridCol w="3030220">
                  <a:extLst>
                    <a:ext uri="{9D8B030D-6E8A-4147-A177-3AD203B41FA5}">
                      <a16:colId xmlns:a16="http://schemas.microsoft.com/office/drawing/2014/main" val="3116822208"/>
                    </a:ext>
                  </a:extLst>
                </a:gridCol>
              </a:tblGrid>
              <a:tr h="244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Line No.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Error Type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Error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Correction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9653660"/>
                  </a:ext>
                </a:extLst>
              </a:tr>
              <a:tr h="83564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108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/>
                        <a:t>Float literal assigned to float array element (better style)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+mn-lt"/>
                        </a:rPr>
                        <a:t>45000.75f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3670582"/>
                  </a:ext>
                </a:extLst>
              </a:tr>
              <a:tr h="244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112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Format Error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Courier New" panose="02070309020205020404" pitchFamily="49" charset="0"/>
                        </a:rPr>
                        <a:t>%d</a:t>
                      </a:r>
                      <a:r>
                        <a:rPr lang="en-IN" sz="900" dirty="0"/>
                        <a:t> used for float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+mn-lt"/>
                        </a:rPr>
                        <a:t>%f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97690185"/>
                  </a:ext>
                </a:extLst>
              </a:tr>
              <a:tr h="44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120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Runtime/Semantic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Missing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&amp;</a:t>
                      </a:r>
                      <a:r>
                        <a:rPr lang="en-IN" sz="900"/>
                        <a:t> in scanf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 err="1">
                          <a:latin typeface="+mn-lt"/>
                        </a:rPr>
                        <a:t>scanf</a:t>
                      </a:r>
                      <a:r>
                        <a:rPr lang="en-IN" sz="900" dirty="0">
                          <a:latin typeface="+mn-lt"/>
                        </a:rPr>
                        <a:t>("%d", &amp;result[</a:t>
                      </a:r>
                      <a:r>
                        <a:rPr lang="en-IN" sz="900" dirty="0" err="1">
                          <a:latin typeface="+mn-lt"/>
                        </a:rPr>
                        <a:t>i</a:t>
                      </a:r>
                      <a:r>
                        <a:rPr lang="en-IN" sz="900" dirty="0">
                          <a:latin typeface="+mn-lt"/>
                        </a:rPr>
                        <a:t>]);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717728"/>
                  </a:ext>
                </a:extLst>
              </a:tr>
              <a:tr h="44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136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Cannot assign string to array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 err="1">
                          <a:latin typeface="+mn-lt"/>
                        </a:rPr>
                        <a:t>strcpy</a:t>
                      </a:r>
                      <a:r>
                        <a:rPr lang="en-IN" sz="900" dirty="0">
                          <a:latin typeface="+mn-lt"/>
                        </a:rPr>
                        <a:t>(city, "Jaipur");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81211308"/>
                  </a:ext>
                </a:extLst>
              </a:tr>
              <a:tr h="44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144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String used as array index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+mn-lt"/>
                        </a:rPr>
                        <a:t>inventory[1] = 100;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743184"/>
                  </a:ext>
                </a:extLst>
              </a:tr>
              <a:tr h="44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146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Float used as array index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>
                          <a:latin typeface="+mn-lt"/>
                        </a:rPr>
                        <a:t>inventory[2] = 200;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78585882"/>
                  </a:ext>
                </a:extLst>
              </a:tr>
              <a:tr h="44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155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Runtime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Array out of bounds (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900"/>
                        <a:t>)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 err="1">
                          <a:latin typeface="+mn-lt"/>
                        </a:rPr>
                        <a:t>i</a:t>
                      </a:r>
                      <a:r>
                        <a:rPr lang="en-IN" sz="900" dirty="0">
                          <a:latin typeface="+mn-lt"/>
                        </a:rPr>
                        <a:t>&lt;5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52202585"/>
                  </a:ext>
                </a:extLst>
              </a:tr>
              <a:tr h="63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170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Runtime/Logical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No null terminator in string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+mn-lt"/>
                        </a:rPr>
                        <a:t>Increase size and add '\0'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42700488"/>
                  </a:ext>
                </a:extLst>
              </a:tr>
              <a:tr h="63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178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Semantic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Cannot assign one array to another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+mn-lt"/>
                        </a:rPr>
                        <a:t>Copy using loop or </a:t>
                      </a:r>
                      <a:r>
                        <a:rPr lang="en-IN" sz="900" dirty="0" err="1">
                          <a:latin typeface="+mn-lt"/>
                        </a:rPr>
                        <a:t>memcpy</a:t>
                      </a:r>
                      <a:r>
                        <a:rPr lang="en-IN" sz="900" dirty="0">
                          <a:latin typeface="+mn-lt"/>
                        </a:rPr>
                        <a:t>()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20569309"/>
                  </a:ext>
                </a:extLst>
              </a:tr>
              <a:tr h="44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186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Runtime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Array too small for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"Computer"</a:t>
                      </a:r>
                      <a:endParaRPr lang="en-IN" sz="900"/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+mn-lt"/>
                        </a:rPr>
                        <a:t>char course[9];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0718479"/>
                  </a:ext>
                </a:extLst>
              </a:tr>
              <a:tr h="44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188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Runtime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Buffer overflow in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strcpy()</a:t>
                      </a:r>
                      <a:endParaRPr lang="en-IN" sz="900"/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+mn-lt"/>
                        </a:rPr>
                        <a:t>Increase array size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05737507"/>
                  </a:ext>
                </a:extLst>
              </a:tr>
              <a:tr h="44182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196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Runtime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Array out of bounds (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i&lt;=5</a:t>
                      </a:r>
                      <a:r>
                        <a:rPr lang="en-IN" sz="900"/>
                        <a:t>)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 err="1">
                          <a:latin typeface="+mn-lt"/>
                        </a:rPr>
                        <a:t>i</a:t>
                      </a:r>
                      <a:r>
                        <a:rPr lang="en-IN" sz="900" dirty="0">
                          <a:latin typeface="+mn-lt"/>
                        </a:rPr>
                        <a:t>&lt;5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67879788"/>
                  </a:ext>
                </a:extLst>
              </a:tr>
              <a:tr h="6387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209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Syntax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/>
                        <a:t>Missing semicolon after </a:t>
                      </a:r>
                      <a:r>
                        <a:rPr lang="en-IN" sz="900">
                          <a:latin typeface="Courier New" panose="02070309020205020404" pitchFamily="49" charset="0"/>
                        </a:rPr>
                        <a:t>return 0</a:t>
                      </a:r>
                      <a:endParaRPr lang="en-IN" sz="900"/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900" dirty="0">
                          <a:latin typeface="+mn-lt"/>
                        </a:rPr>
                        <a:t>return 0;</a:t>
                      </a:r>
                    </a:p>
                  </a:txBody>
                  <a:tcPr marL="33472" marR="33472" marT="16736" marB="16736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219285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52715109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1F62355-E655-95DB-48D9-2B865FECF39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4024B418-E939-48C4-66D6-94EBC38530C4}"/>
              </a:ext>
            </a:extLst>
          </p:cNvPr>
          <p:cNvSpPr txBox="1"/>
          <p:nvPr/>
        </p:nvSpPr>
        <p:spPr>
          <a:xfrm>
            <a:off x="4169664" y="2734056"/>
            <a:ext cx="91440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Problem – 4</a:t>
            </a:r>
          </a:p>
        </p:txBody>
      </p:sp>
    </p:spTree>
    <p:extLst>
      <p:ext uri="{BB962C8B-B14F-4D97-AF65-F5344CB8AC3E}">
        <p14:creationId xmlns:p14="http://schemas.microsoft.com/office/powerpoint/2010/main" val="215975811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B8ADAD6-9B96-8BF6-A329-6A79B8DDB41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5AD7425-E9AE-4B2A-381F-B8D0F51F81F7}"/>
              </a:ext>
            </a:extLst>
          </p:cNvPr>
          <p:cNvSpPr txBox="1"/>
          <p:nvPr/>
        </p:nvSpPr>
        <p:spPr>
          <a:xfrm>
            <a:off x="0" y="612845"/>
            <a:ext cx="914171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1.Variables</a:t>
            </a:r>
            <a:br>
              <a:rPr lang="en-US" dirty="0"/>
            </a:br>
            <a:r>
              <a:rPr lang="en-US" dirty="0"/>
              <a:t>sales, </a:t>
            </a:r>
            <a:r>
              <a:rPr lang="en-US" dirty="0" err="1"/>
              <a:t>totalSales</a:t>
            </a:r>
            <a:r>
              <a:rPr lang="en-US" dirty="0"/>
              <a:t>, </a:t>
            </a:r>
            <a:r>
              <a:rPr lang="en-US" dirty="0" err="1"/>
              <a:t>averageSales</a:t>
            </a:r>
            <a:r>
              <a:rPr lang="en-US" dirty="0"/>
              <a:t>, </a:t>
            </a:r>
            <a:r>
              <a:rPr lang="en-US" dirty="0" err="1"/>
              <a:t>highestSale</a:t>
            </a:r>
            <a:r>
              <a:rPr lang="en-US" dirty="0"/>
              <a:t>, </a:t>
            </a:r>
            <a:r>
              <a:rPr lang="en-US" dirty="0" err="1"/>
              <a:t>monthlySales</a:t>
            </a:r>
            <a:r>
              <a:rPr lang="en-US" dirty="0"/>
              <a:t>, product, category, stock, orders, </a:t>
            </a:r>
            <a:r>
              <a:rPr lang="en-US" dirty="0" err="1"/>
              <a:t>totalOrders</a:t>
            </a:r>
            <a:r>
              <a:rPr lang="en-US" dirty="0"/>
              <a:t>, revenue, </a:t>
            </a:r>
            <a:r>
              <a:rPr lang="en-US" dirty="0" err="1"/>
              <a:t>backupRevenue</a:t>
            </a:r>
            <a:r>
              <a:rPr lang="en-US" dirty="0"/>
              <a:t>, commission, city, branch, employees, department, expenses, ratings, feedback,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2.Functions</a:t>
            </a:r>
            <a:br>
              <a:rPr lang="en-US" dirty="0"/>
            </a:br>
            <a:r>
              <a:rPr lang="en-US" dirty="0"/>
              <a:t>main(), </a:t>
            </a:r>
            <a:r>
              <a:rPr lang="en-US" dirty="0" err="1"/>
              <a:t>printf</a:t>
            </a:r>
            <a:r>
              <a:rPr lang="en-US" dirty="0"/>
              <a:t>(), </a:t>
            </a:r>
            <a:r>
              <a:rPr lang="en-US" dirty="0" err="1"/>
              <a:t>scanf</a:t>
            </a:r>
            <a:r>
              <a:rPr lang="en-US" dirty="0"/>
              <a:t>(), </a:t>
            </a:r>
            <a:r>
              <a:rPr lang="en-US" dirty="0" err="1"/>
              <a:t>strcpy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b="1" dirty="0"/>
              <a:t>3.Loops</a:t>
            </a:r>
            <a:br>
              <a:rPr lang="en-US" dirty="0"/>
            </a:br>
            <a:r>
              <a:rPr lang="en-US" dirty="0"/>
              <a:t>for loop</a:t>
            </a:r>
          </a:p>
          <a:p>
            <a:pPr>
              <a:buNone/>
            </a:pPr>
            <a:r>
              <a:rPr lang="en-US" b="1" dirty="0"/>
              <a:t>3.Arrays</a:t>
            </a:r>
            <a:br>
              <a:rPr lang="en-US" dirty="0"/>
            </a:br>
            <a:r>
              <a:rPr lang="en-US" dirty="0"/>
              <a:t>sales[], </a:t>
            </a:r>
            <a:r>
              <a:rPr lang="en-US" dirty="0" err="1"/>
              <a:t>monthlySales</a:t>
            </a:r>
            <a:r>
              <a:rPr lang="en-US" dirty="0"/>
              <a:t>[], product[], category[], stock[], orders[], revenue[], </a:t>
            </a:r>
            <a:r>
              <a:rPr lang="en-US" dirty="0" err="1"/>
              <a:t>backupRevenue</a:t>
            </a:r>
            <a:r>
              <a:rPr lang="en-US" dirty="0"/>
              <a:t>[], commission[], city[], branch[], employees[], department[], expenses[], ratings[], feedback[]</a:t>
            </a:r>
          </a:p>
          <a:p>
            <a:pPr>
              <a:buNone/>
            </a:pPr>
            <a:r>
              <a:rPr lang="en-US" b="1" dirty="0"/>
              <a:t>4.Structures</a:t>
            </a:r>
            <a:br>
              <a:rPr lang="en-US" dirty="0"/>
            </a:br>
            <a:r>
              <a:rPr lang="en-US" dirty="0"/>
              <a:t>Not used</a:t>
            </a:r>
          </a:p>
          <a:p>
            <a:pPr>
              <a:buNone/>
            </a:pPr>
            <a:r>
              <a:rPr lang="en-US" b="1" dirty="0"/>
              <a:t>5.File Operations</a:t>
            </a:r>
            <a:br>
              <a:rPr lang="en-US" dirty="0"/>
            </a:br>
            <a:r>
              <a:rPr lang="en-US" dirty="0"/>
              <a:t>Not used</a:t>
            </a:r>
          </a:p>
          <a:p>
            <a:pPr>
              <a:buNone/>
            </a:pPr>
            <a:r>
              <a:rPr lang="en-US" b="1" dirty="0"/>
              <a:t>6.Pointers</a:t>
            </a:r>
            <a:br>
              <a:rPr lang="en-US" dirty="0"/>
            </a:br>
            <a:r>
              <a:rPr lang="en-US" dirty="0"/>
              <a:t>Not used</a:t>
            </a:r>
          </a:p>
        </p:txBody>
      </p:sp>
    </p:spTree>
    <p:extLst>
      <p:ext uri="{BB962C8B-B14F-4D97-AF65-F5344CB8AC3E}">
        <p14:creationId xmlns:p14="http://schemas.microsoft.com/office/powerpoint/2010/main" val="8533204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1A95D8F-288F-C724-A852-CA1355A7FC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460308"/>
              </p:ext>
            </p:extLst>
          </p:nvPr>
        </p:nvGraphicFramePr>
        <p:xfrm>
          <a:off x="0" y="0"/>
          <a:ext cx="12192000" cy="6858005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2238622569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93967321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036673288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25771664"/>
                    </a:ext>
                  </a:extLst>
                </a:gridCol>
              </a:tblGrid>
              <a:tr h="17629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Line No.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Error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Type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Correction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98885650"/>
                  </a:ext>
                </a:extLst>
              </a:tr>
              <a:tr h="884335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20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printf("Average Sales = %d\n", averageSales);</a:t>
                      </a:r>
                      <a:r>
                        <a:rPr lang="en-IN" sz="600"/>
                        <a:t> printing float using </a:t>
                      </a:r>
                      <a:r>
                        <a:rPr lang="en-IN" sz="600">
                          <a:latin typeface="Courier New" panose="02070309020205020404" pitchFamily="49" charset="0"/>
                        </a:rPr>
                        <a:t>%d</a:t>
                      </a:r>
                      <a:endParaRPr lang="en-IN" sz="600"/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Semantic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Use %f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63612572"/>
                  </a:ext>
                </a:extLst>
              </a:tr>
              <a:tr h="601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18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averageSales = totalSales / 5;</a:t>
                      </a:r>
                      <a:r>
                        <a:rPr lang="en-IN" sz="600"/>
                        <a:t> integer division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Logical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 err="1">
                          <a:latin typeface="+mn-lt"/>
                        </a:rPr>
                        <a:t>averageSales</a:t>
                      </a:r>
                      <a:r>
                        <a:rPr lang="en-IN" sz="600" dirty="0">
                          <a:latin typeface="+mn-lt"/>
                        </a:rPr>
                        <a:t> = (float)</a:t>
                      </a:r>
                      <a:r>
                        <a:rPr lang="en-IN" sz="600" dirty="0" err="1">
                          <a:latin typeface="+mn-lt"/>
                        </a:rPr>
                        <a:t>totalSales</a:t>
                      </a:r>
                      <a:r>
                        <a:rPr lang="en-IN" sz="600" dirty="0">
                          <a:latin typeface="+mn-lt"/>
                        </a:rPr>
                        <a:t> / 5;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0001051"/>
                  </a:ext>
                </a:extLst>
              </a:tr>
              <a:tr h="74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28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if(sales[i] &lt; highestSale)</a:t>
                      </a:r>
                      <a:r>
                        <a:rPr lang="en-IN" sz="600"/>
                        <a:t> finds minimum instead of maximum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Logical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+mn-lt"/>
                        </a:rPr>
                        <a:t>Use if(sales[i] &gt; highestSale)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5977080"/>
                  </a:ext>
                </a:extLst>
              </a:tr>
              <a:tr h="317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44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monthlySales[5] = 250;</a:t>
                      </a:r>
                      <a:endParaRPr lang="en-IN" sz="600"/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Array Bounds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Valid indices are 0–4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26959948"/>
                  </a:ext>
                </a:extLst>
              </a:tr>
              <a:tr h="317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48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for(int i=0;i&lt;=5;i++)</a:t>
                      </a:r>
                      <a:endParaRPr lang="en-IN" sz="600"/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Array Bounds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Use </a:t>
                      </a:r>
                      <a:r>
                        <a:rPr lang="en-IN" sz="600" dirty="0" err="1">
                          <a:latin typeface="+mn-lt"/>
                        </a:rPr>
                        <a:t>i</a:t>
                      </a:r>
                      <a:r>
                        <a:rPr lang="en-IN" sz="600" dirty="0">
                          <a:latin typeface="+mn-lt"/>
                        </a:rPr>
                        <a:t> &lt; 5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87425713"/>
                  </a:ext>
                </a:extLst>
              </a:tr>
              <a:tr h="459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56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 err="1">
                          <a:latin typeface="Courier New" panose="02070309020205020404" pitchFamily="49" charset="0"/>
                        </a:rPr>
                        <a:t>strcpy</a:t>
                      </a:r>
                      <a:r>
                        <a:rPr lang="en-IN" sz="600" dirty="0">
                          <a:latin typeface="Courier New" panose="02070309020205020404" pitchFamily="49" charset="0"/>
                        </a:rPr>
                        <a:t>(product,"</a:t>
                      </a:r>
                      <a:r>
                        <a:rPr lang="en-IN" sz="600" dirty="0" err="1">
                          <a:latin typeface="Courier New" panose="02070309020205020404" pitchFamily="49" charset="0"/>
                        </a:rPr>
                        <a:t>LaptopComputer</a:t>
                      </a:r>
                      <a:r>
                        <a:rPr lang="en-IN" sz="600" dirty="0">
                          <a:latin typeface="Courier New" panose="02070309020205020404" pitchFamily="49" charset="0"/>
                        </a:rPr>
                        <a:t>");</a:t>
                      </a:r>
                      <a:endParaRPr lang="en-IN" sz="600" dirty="0"/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Runtime / Buffer Overflow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Increase array size or shorten string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95293686"/>
                  </a:ext>
                </a:extLst>
              </a:tr>
              <a:tr h="60112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62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category = "Electronics";</a:t>
                      </a:r>
                      <a:endParaRPr lang="en-IN" sz="600"/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/>
                        <a:t>Syntax / Semantic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+mn-lt"/>
                        </a:rPr>
                        <a:t>Use strcpy(category,"Electronics");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88014482"/>
                  </a:ext>
                </a:extLst>
              </a:tr>
              <a:tr h="459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70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stock["first"] = 100;</a:t>
                      </a:r>
                      <a:endParaRPr lang="en-IN" sz="600"/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Semantic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Use numeric index such as stock[0]=100;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30198294"/>
                  </a:ext>
                </a:extLst>
              </a:tr>
              <a:tr h="317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72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stock[2.7] = 200;</a:t>
                      </a:r>
                      <a:endParaRPr lang="en-IN" sz="600"/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Semantic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+mn-lt"/>
                        </a:rPr>
                        <a:t>Use integer index stock[2]=200;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3590895"/>
                  </a:ext>
                </a:extLst>
              </a:tr>
              <a:tr h="459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90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scanf("%d", orders[i]);</a:t>
                      </a:r>
                      <a:endParaRPr lang="en-IN" sz="600"/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Runtime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Use </a:t>
                      </a:r>
                      <a:r>
                        <a:rPr lang="en-IN" sz="600" dirty="0" err="1">
                          <a:latin typeface="+mn-lt"/>
                        </a:rPr>
                        <a:t>scanf</a:t>
                      </a:r>
                      <a:r>
                        <a:rPr lang="en-IN" sz="600" dirty="0">
                          <a:latin typeface="+mn-lt"/>
                        </a:rPr>
                        <a:t>("%</a:t>
                      </a:r>
                      <a:r>
                        <a:rPr lang="en-IN" sz="600" dirty="0" err="1">
                          <a:latin typeface="+mn-lt"/>
                        </a:rPr>
                        <a:t>d",&amp;orders</a:t>
                      </a:r>
                      <a:r>
                        <a:rPr lang="en-IN" sz="600" dirty="0">
                          <a:latin typeface="+mn-lt"/>
                        </a:rPr>
                        <a:t>[</a:t>
                      </a:r>
                      <a:r>
                        <a:rPr lang="en-IN" sz="600" dirty="0" err="1">
                          <a:latin typeface="+mn-lt"/>
                        </a:rPr>
                        <a:t>i</a:t>
                      </a:r>
                      <a:r>
                        <a:rPr lang="en-IN" sz="600" dirty="0">
                          <a:latin typeface="+mn-lt"/>
                        </a:rPr>
                        <a:t>]);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31613031"/>
                  </a:ext>
                </a:extLst>
              </a:tr>
              <a:tr h="74272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101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Missing output for total orders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Logical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Add </a:t>
                      </a:r>
                      <a:r>
                        <a:rPr lang="en-IN" sz="600" dirty="0" err="1">
                          <a:latin typeface="+mn-lt"/>
                        </a:rPr>
                        <a:t>printf</a:t>
                      </a:r>
                      <a:r>
                        <a:rPr lang="en-IN" sz="600" dirty="0">
                          <a:latin typeface="+mn-lt"/>
                        </a:rPr>
                        <a:t>("Total Orders = %d\n", </a:t>
                      </a:r>
                      <a:r>
                        <a:rPr lang="en-IN" sz="600" dirty="0" err="1">
                          <a:latin typeface="+mn-lt"/>
                        </a:rPr>
                        <a:t>totalOrders</a:t>
                      </a:r>
                      <a:r>
                        <a:rPr lang="en-IN" sz="600" dirty="0">
                          <a:latin typeface="+mn-lt"/>
                        </a:rPr>
                        <a:t>);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3045123"/>
                  </a:ext>
                </a:extLst>
              </a:tr>
              <a:tr h="45951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101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Missing </a:t>
                      </a:r>
                      <a:r>
                        <a:rPr lang="en-IN" sz="600">
                          <a:latin typeface="Courier New" panose="02070309020205020404" pitchFamily="49" charset="0"/>
                        </a:rPr>
                        <a:t>return 0;</a:t>
                      </a:r>
                      <a:r>
                        <a:rPr lang="en-IN" sz="600"/>
                        <a:t> before closing main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Good Practice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Add return 0;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52263860"/>
                  </a:ext>
                </a:extLst>
              </a:tr>
              <a:tr h="31790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600" dirty="0"/>
                        <a:t>1</a:t>
                      </a:r>
                      <a:r>
                        <a:rPr lang="en-IN" sz="600" dirty="0"/>
                        <a:t>02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Missing closing brace </a:t>
                      </a:r>
                      <a:r>
                        <a:rPr lang="en-IN" sz="600">
                          <a:latin typeface="Courier New" panose="02070309020205020404" pitchFamily="49" charset="0"/>
                        </a:rPr>
                        <a:t>}</a:t>
                      </a:r>
                      <a:r>
                        <a:rPr lang="en-IN" sz="600"/>
                        <a:t> for main()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Syntax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Add }</a:t>
                      </a:r>
                    </a:p>
                  </a:txBody>
                  <a:tcPr marL="22430" marR="22430" marT="11215" marB="1121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12743544"/>
                  </a:ext>
                </a:extLst>
              </a:tr>
            </a:tbl>
          </a:graphicData>
        </a:graphic>
      </p:graphicFrame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E0C0B05C-C4C6-95B1-392C-36519A3517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37160" cy="358775"/>
          </a:xfrm>
        </p:spPr>
        <p:txBody>
          <a:bodyPr>
            <a:normAutofit fontScale="77500" lnSpcReduction="20000"/>
          </a:bodyPr>
          <a:lstStyle/>
          <a:p>
            <a:pPr marL="0" indent="0">
              <a:buNone/>
            </a:pP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27185416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8CC8F95-8A8F-5A05-7E4C-4FFDDD3B1C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1039923"/>
              </p:ext>
            </p:extLst>
          </p:nvPr>
        </p:nvGraphicFramePr>
        <p:xfrm>
          <a:off x="0" y="1"/>
          <a:ext cx="12192000" cy="6858001"/>
        </p:xfrm>
        <a:graphic>
          <a:graphicData uri="http://schemas.openxmlformats.org/drawingml/2006/table">
            <a:tbl>
              <a:tblPr/>
              <a:tblGrid>
                <a:gridCol w="3048000">
                  <a:extLst>
                    <a:ext uri="{9D8B030D-6E8A-4147-A177-3AD203B41FA5}">
                      <a16:colId xmlns:a16="http://schemas.microsoft.com/office/drawing/2014/main" val="315022652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858212361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1392013164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157771690"/>
                    </a:ext>
                  </a:extLst>
                </a:gridCol>
              </a:tblGrid>
              <a:tr h="168088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Line No.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Error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Type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Correction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182948"/>
                  </a:ext>
                </a:extLst>
              </a:tr>
              <a:tr h="70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113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if(revenue[2] = 3000)</a:t>
                      </a:r>
                      <a:r>
                        <a:rPr lang="en-IN" sz="600"/>
                        <a:t> uses assignment instead of comparison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Logical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if(revenue[2] == 3000)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666887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122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backupRevenue = revenue;</a:t>
                      </a:r>
                      <a:r>
                        <a:rPr lang="en-IN" sz="600"/>
                        <a:t> array assignment not allowed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Semantic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Copy using loop or </a:t>
                      </a:r>
                      <a:r>
                        <a:rPr lang="en-IN" sz="600" dirty="0" err="1">
                          <a:latin typeface="+mn-lt"/>
                        </a:rPr>
                        <a:t>memcpy</a:t>
                      </a:r>
                      <a:r>
                        <a:rPr lang="en-IN" sz="600" dirty="0">
                          <a:latin typeface="+mn-lt"/>
                        </a:rPr>
                        <a:t>()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33212892"/>
                  </a:ext>
                </a:extLst>
              </a:tr>
              <a:tr h="70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132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printf("%d\n", commission[0]);</a:t>
                      </a:r>
                      <a:r>
                        <a:rPr lang="en-IN" sz="600"/>
                        <a:t> printing float with </a:t>
                      </a:r>
                      <a:r>
                        <a:rPr lang="en-IN" sz="600">
                          <a:latin typeface="Courier New" panose="02070309020205020404" pitchFamily="49" charset="0"/>
                        </a:rPr>
                        <a:t>%d</a:t>
                      </a:r>
                      <a:endParaRPr lang="en-IN" sz="600"/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Semantic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Use %f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18715748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138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Courier New" panose="02070309020205020404" pitchFamily="49" charset="0"/>
                        </a:rPr>
                        <a:t>city = "Jaipur";</a:t>
                      </a:r>
                      <a:r>
                        <a:rPr lang="en-IN" sz="600" dirty="0"/>
                        <a:t> array assignment not allowed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Semantic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 err="1">
                          <a:latin typeface="+mn-lt"/>
                        </a:rPr>
                        <a:t>strcpy</a:t>
                      </a:r>
                      <a:r>
                        <a:rPr lang="en-IN" sz="600" dirty="0">
                          <a:latin typeface="+mn-lt"/>
                        </a:rPr>
                        <a:t>(</a:t>
                      </a:r>
                      <a:r>
                        <a:rPr lang="en-IN" sz="600" dirty="0" err="1">
                          <a:latin typeface="+mn-lt"/>
                        </a:rPr>
                        <a:t>city,"Jaipur</a:t>
                      </a:r>
                      <a:r>
                        <a:rPr lang="en-IN" sz="600" dirty="0">
                          <a:latin typeface="+mn-lt"/>
                        </a:rPr>
                        <a:t>");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02511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150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printf("%s\n", branch);</a:t>
                      </a:r>
                      <a:r>
                        <a:rPr lang="en-IN" sz="600"/>
                        <a:t> string not null terminated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Runtime / Logical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Add branch[4]='\0';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8032467"/>
                  </a:ext>
                </a:extLst>
              </a:tr>
              <a:tr h="437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156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for(int i=0;i&lt;=5;i++)</a:t>
                      </a:r>
                      <a:r>
                        <a:rPr lang="en-IN" sz="600"/>
                        <a:t> accesses index 5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Array Bounds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Use </a:t>
                      </a:r>
                      <a:r>
                        <a:rPr lang="en-IN" sz="600" dirty="0" err="1">
                          <a:latin typeface="+mn-lt"/>
                        </a:rPr>
                        <a:t>i</a:t>
                      </a:r>
                      <a:r>
                        <a:rPr lang="en-IN" sz="600" dirty="0">
                          <a:latin typeface="+mn-lt"/>
                        </a:rPr>
                        <a:t>&lt;5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46381555"/>
                  </a:ext>
                </a:extLst>
              </a:tr>
              <a:tr h="70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172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strcpy(department,"Marketing");</a:t>
                      </a:r>
                      <a:r>
                        <a:rPr lang="en-IN" sz="600"/>
                        <a:t> destination too small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Runtime / Buffer Overflow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Increase size (char department[10];)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0432628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180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expenses = sales;</a:t>
                      </a:r>
                      <a:r>
                        <a:rPr lang="en-IN" sz="600"/>
                        <a:t> array assignment not allowed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Semantic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Copy elements individually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54781968"/>
                  </a:ext>
                </a:extLst>
              </a:tr>
              <a:tr h="43702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188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ratings[-1] = 5;</a:t>
                      </a:r>
                      <a:r>
                        <a:rPr lang="en-IN" sz="600"/>
                        <a:t> negative array index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Runtime / Array Bounds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Use valid index (0–4)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447290555"/>
                  </a:ext>
                </a:extLst>
              </a:tr>
              <a:tr h="70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200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printf("%s\n", feedback[0]);</a:t>
                      </a:r>
                      <a:r>
                        <a:rPr lang="en-IN" sz="600"/>
                        <a:t> </a:t>
                      </a:r>
                      <a:r>
                        <a:rPr lang="en-IN" sz="600">
                          <a:latin typeface="Courier New" panose="02070309020205020404" pitchFamily="49" charset="0"/>
                        </a:rPr>
                        <a:t>%s</a:t>
                      </a:r>
                      <a:r>
                        <a:rPr lang="en-IN" sz="600"/>
                        <a:t> used for integer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Semantic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 err="1">
                          <a:latin typeface="+mn-lt"/>
                        </a:rPr>
                        <a:t>printf</a:t>
                      </a:r>
                      <a:r>
                        <a:rPr lang="en-IN" sz="600" dirty="0">
                          <a:latin typeface="+mn-lt"/>
                        </a:rPr>
                        <a:t>("%d\n", feedback[0]);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84956088"/>
                  </a:ext>
                </a:extLst>
              </a:tr>
              <a:tr h="70597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204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printf("Report Generated Successfully\n")</a:t>
                      </a:r>
                      <a:r>
                        <a:rPr lang="en-IN" sz="600"/>
                        <a:t> missing semicolon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Syntax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Add ;</a:t>
                      </a:r>
                    </a:p>
                  </a:txBody>
                  <a:tcPr marL="21330" marR="21330" marT="10665" marB="10665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99365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708303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246BAA4-E366-303A-96AC-E32D7F02A4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D3F9881-6AAA-C918-336D-F9956BDA3DC7}"/>
              </a:ext>
            </a:extLst>
          </p:cNvPr>
          <p:cNvSpPr txBox="1"/>
          <p:nvPr/>
        </p:nvSpPr>
        <p:spPr>
          <a:xfrm>
            <a:off x="4014216" y="2560320"/>
            <a:ext cx="776325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dirty="0"/>
              <a:t>Problem-5</a:t>
            </a:r>
          </a:p>
        </p:txBody>
      </p:sp>
    </p:spTree>
    <p:extLst>
      <p:ext uri="{BB962C8B-B14F-4D97-AF65-F5344CB8AC3E}">
        <p14:creationId xmlns:p14="http://schemas.microsoft.com/office/powerpoint/2010/main" val="169428803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00A7C11-EB44-0878-3826-762F79035A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111E24AF-DAFA-8484-CF55-526314253E07}"/>
              </a:ext>
            </a:extLst>
          </p:cNvPr>
          <p:cNvSpPr txBox="1"/>
          <p:nvPr/>
        </p:nvSpPr>
        <p:spPr>
          <a:xfrm>
            <a:off x="91440" y="751344"/>
            <a:ext cx="11905488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b="1" dirty="0"/>
              <a:t>1.Variables</a:t>
            </a:r>
            <a:br>
              <a:rPr lang="en-US" dirty="0"/>
            </a:br>
            <a:r>
              <a:rPr lang="en-US" dirty="0"/>
              <a:t>marks, total, average, highest, lowest, attendance, present, subject, department, fees, result, </a:t>
            </a:r>
            <a:r>
              <a:rPr lang="en-US" dirty="0" err="1"/>
              <a:t>totalResult</a:t>
            </a:r>
            <a:r>
              <a:rPr lang="en-US" dirty="0"/>
              <a:t>, inventory, backup, salary, city, branch, stock, course, ratings, feedback, scores, temp, </a:t>
            </a:r>
            <a:r>
              <a:rPr lang="en-US" dirty="0" err="1"/>
              <a:t>i</a:t>
            </a:r>
            <a:r>
              <a:rPr lang="en-US" dirty="0"/>
              <a:t>.</a:t>
            </a:r>
          </a:p>
          <a:p>
            <a:pPr>
              <a:buNone/>
            </a:pPr>
            <a:r>
              <a:rPr lang="en-US" b="1" dirty="0"/>
              <a:t>2.unctions</a:t>
            </a:r>
            <a:br>
              <a:rPr lang="en-US" dirty="0"/>
            </a:br>
            <a:r>
              <a:rPr lang="en-US" dirty="0"/>
              <a:t>main(), </a:t>
            </a:r>
            <a:r>
              <a:rPr lang="en-US" dirty="0" err="1"/>
              <a:t>printf</a:t>
            </a:r>
            <a:r>
              <a:rPr lang="en-US" dirty="0"/>
              <a:t>(), </a:t>
            </a:r>
            <a:r>
              <a:rPr lang="en-US" dirty="0" err="1"/>
              <a:t>scanf</a:t>
            </a:r>
            <a:r>
              <a:rPr lang="en-US" dirty="0"/>
              <a:t>(), </a:t>
            </a:r>
            <a:r>
              <a:rPr lang="en-US" dirty="0" err="1"/>
              <a:t>strcpy</a:t>
            </a:r>
            <a:r>
              <a:rPr lang="en-US" dirty="0"/>
              <a:t>()</a:t>
            </a:r>
          </a:p>
          <a:p>
            <a:pPr>
              <a:buNone/>
            </a:pPr>
            <a:r>
              <a:rPr lang="en-US" b="1" dirty="0"/>
              <a:t>3.Loops</a:t>
            </a:r>
            <a:br>
              <a:rPr lang="en-US" dirty="0"/>
            </a:br>
            <a:r>
              <a:rPr lang="en-US" dirty="0"/>
              <a:t>for loop</a:t>
            </a:r>
          </a:p>
          <a:p>
            <a:pPr>
              <a:buNone/>
            </a:pPr>
            <a:r>
              <a:rPr lang="en-US" b="1" dirty="0"/>
              <a:t>4.Arrays</a:t>
            </a:r>
            <a:br>
              <a:rPr lang="en-US" dirty="0"/>
            </a:br>
            <a:r>
              <a:rPr lang="en-US" dirty="0"/>
              <a:t>marks[], attendance[], subject[], department[], fees[], result[], inventory[], backup[], salary[], city[], branch[], stock[], course[], ratings[], feedback[], scores[], temp[]</a:t>
            </a:r>
          </a:p>
          <a:p>
            <a:pPr>
              <a:buNone/>
            </a:pPr>
            <a:r>
              <a:rPr lang="en-US" b="1" dirty="0"/>
              <a:t>5.Structures</a:t>
            </a:r>
            <a:br>
              <a:rPr lang="en-US" dirty="0"/>
            </a:br>
            <a:r>
              <a:rPr lang="en-US" dirty="0"/>
              <a:t>Not used</a:t>
            </a:r>
          </a:p>
          <a:p>
            <a:pPr>
              <a:buNone/>
            </a:pPr>
            <a:r>
              <a:rPr lang="en-US" b="1" dirty="0"/>
              <a:t>6.File Operations</a:t>
            </a:r>
            <a:br>
              <a:rPr lang="en-US" dirty="0"/>
            </a:br>
            <a:r>
              <a:rPr lang="en-US" dirty="0"/>
              <a:t>Not used</a:t>
            </a:r>
          </a:p>
          <a:p>
            <a:pPr>
              <a:buNone/>
            </a:pPr>
            <a:r>
              <a:rPr lang="en-US" b="1" dirty="0"/>
              <a:t>7.Pointers</a:t>
            </a:r>
            <a:br>
              <a:rPr lang="en-US" dirty="0"/>
            </a:br>
            <a:r>
              <a:rPr lang="en-US" dirty="0"/>
              <a:t>Not used</a:t>
            </a:r>
          </a:p>
        </p:txBody>
      </p:sp>
    </p:spTree>
    <p:extLst>
      <p:ext uri="{BB962C8B-B14F-4D97-AF65-F5344CB8AC3E}">
        <p14:creationId xmlns:p14="http://schemas.microsoft.com/office/powerpoint/2010/main" val="3407835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3514180-B080-FD6F-FF88-092F6E432E0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5817615"/>
              </p:ext>
            </p:extLst>
          </p:nvPr>
        </p:nvGraphicFramePr>
        <p:xfrm>
          <a:off x="81280" y="0"/>
          <a:ext cx="12009120" cy="6858004"/>
        </p:xfrm>
        <a:graphic>
          <a:graphicData uri="http://schemas.openxmlformats.org/drawingml/2006/table">
            <a:tbl>
              <a:tblPr/>
              <a:tblGrid>
                <a:gridCol w="2401824">
                  <a:extLst>
                    <a:ext uri="{9D8B030D-6E8A-4147-A177-3AD203B41FA5}">
                      <a16:colId xmlns:a16="http://schemas.microsoft.com/office/drawing/2014/main" val="3856513944"/>
                    </a:ext>
                  </a:extLst>
                </a:gridCol>
                <a:gridCol w="2401824">
                  <a:extLst>
                    <a:ext uri="{9D8B030D-6E8A-4147-A177-3AD203B41FA5}">
                      <a16:colId xmlns:a16="http://schemas.microsoft.com/office/drawing/2014/main" val="3887275503"/>
                    </a:ext>
                  </a:extLst>
                </a:gridCol>
                <a:gridCol w="2401824">
                  <a:extLst>
                    <a:ext uri="{9D8B030D-6E8A-4147-A177-3AD203B41FA5}">
                      <a16:colId xmlns:a16="http://schemas.microsoft.com/office/drawing/2014/main" val="1186264891"/>
                    </a:ext>
                  </a:extLst>
                </a:gridCol>
                <a:gridCol w="2401824">
                  <a:extLst>
                    <a:ext uri="{9D8B030D-6E8A-4147-A177-3AD203B41FA5}">
                      <a16:colId xmlns:a16="http://schemas.microsoft.com/office/drawing/2014/main" val="3273908620"/>
                    </a:ext>
                  </a:extLst>
                </a:gridCol>
                <a:gridCol w="2401824">
                  <a:extLst>
                    <a:ext uri="{9D8B030D-6E8A-4147-A177-3AD203B41FA5}">
                      <a16:colId xmlns:a16="http://schemas.microsoft.com/office/drawing/2014/main" val="1861379842"/>
                    </a:ext>
                  </a:extLst>
                </a:gridCol>
              </a:tblGrid>
              <a:tr h="16737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Line No.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Code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Error Type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Description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Correction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2727566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20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printf("Average = %d\n", average);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Format / Semantic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%d</a:t>
                      </a:r>
                      <a:r>
                        <a:rPr lang="en-IN" sz="600"/>
                        <a:t> used for float variable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 err="1">
                          <a:latin typeface="+mn-lt"/>
                        </a:rPr>
                        <a:t>printf</a:t>
                      </a:r>
                      <a:r>
                        <a:rPr lang="en-IN" sz="600" dirty="0">
                          <a:latin typeface="+mn-lt"/>
                        </a:rPr>
                        <a:t>("Average = %.2f\n", average);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39548443"/>
                  </a:ext>
                </a:extLst>
              </a:tr>
              <a:tr h="706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18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average = total / 10;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Logical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Integer division performed before storing in float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average = (float)total / 10;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0703499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28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if(marks[i] &lt; highest)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Logical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Finding lowest value instead of highest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if(marks[</a:t>
                      </a:r>
                      <a:r>
                        <a:rPr lang="en-IN" sz="600" dirty="0" err="1">
                          <a:latin typeface="+mn-lt"/>
                        </a:rPr>
                        <a:t>i</a:t>
                      </a:r>
                      <a:r>
                        <a:rPr lang="en-IN" sz="600" dirty="0">
                          <a:latin typeface="+mn-lt"/>
                        </a:rPr>
                        <a:t>] &gt; highest)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944716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41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if(marks[i] &gt; lowest)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Logical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Finding highest value instead of lowest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if(marks[</a:t>
                      </a:r>
                      <a:r>
                        <a:rPr lang="en-IN" sz="600" dirty="0" err="1">
                          <a:latin typeface="+mn-lt"/>
                        </a:rPr>
                        <a:t>i</a:t>
                      </a:r>
                      <a:r>
                        <a:rPr lang="en-IN" sz="600" dirty="0">
                          <a:latin typeface="+mn-lt"/>
                        </a:rPr>
                        <a:t>] &lt; lowest)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0670239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57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Courier New" panose="02070309020205020404" pitchFamily="49" charset="0"/>
                        </a:rPr>
                        <a:t>attendance[10] = 0;</a:t>
                      </a:r>
                      <a:endParaRPr lang="en-IN" sz="600" dirty="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Runtime / Array Bounds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Array size is 10, valid index is 0-9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Remove statement or use index 9 if intended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9357329"/>
                  </a:ext>
                </a:extLst>
              </a:tr>
              <a:tr h="436791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61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for(int i=0;i&lt;=10;i++)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Runtime / Array Bounds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Accesses </a:t>
                      </a:r>
                      <a:r>
                        <a:rPr lang="en-IN" sz="600">
                          <a:latin typeface="Courier New" panose="02070309020205020404" pitchFamily="49" charset="0"/>
                        </a:rPr>
                        <a:t>attendance[10]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for(int </a:t>
                      </a:r>
                      <a:r>
                        <a:rPr lang="en-IN" sz="600" dirty="0" err="1">
                          <a:latin typeface="+mn-lt"/>
                        </a:rPr>
                        <a:t>i</a:t>
                      </a:r>
                      <a:r>
                        <a:rPr lang="en-IN" sz="600" dirty="0">
                          <a:latin typeface="+mn-lt"/>
                        </a:rPr>
                        <a:t>=0;i&lt;10;i++)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73136780"/>
                  </a:ext>
                </a:extLst>
              </a:tr>
              <a:tr h="706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71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strcpy(subject,"DataStructures");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Runtime / Buffer Overflow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String length (14 + '\0') exceeds array size 10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Increase array size, e.g. char subject[20];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2947218"/>
                  </a:ext>
                </a:extLst>
              </a:tr>
              <a:tr h="706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79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department = "InformationTechnology";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Syntax / Semantic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Cannot assign string directly to character array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 err="1">
                          <a:latin typeface="+mn-lt"/>
                        </a:rPr>
                        <a:t>strcpy</a:t>
                      </a:r>
                      <a:r>
                        <a:rPr lang="en-IN" sz="600" dirty="0">
                          <a:latin typeface="+mn-lt"/>
                        </a:rPr>
                        <a:t>(department,"</a:t>
                      </a:r>
                      <a:r>
                        <a:rPr lang="en-IN" sz="600" dirty="0" err="1">
                          <a:latin typeface="+mn-lt"/>
                        </a:rPr>
                        <a:t>InformationTechnology</a:t>
                      </a:r>
                      <a:r>
                        <a:rPr lang="en-IN" sz="600" dirty="0">
                          <a:latin typeface="+mn-lt"/>
                        </a:rPr>
                        <a:t>");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71841617"/>
                  </a:ext>
                </a:extLst>
              </a:tr>
              <a:tr h="7062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79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strcpy(department,"InformationTechnology");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Runtime / Buffer Overflow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String longer than array size 20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Increase size, e.g. char department[30];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43606167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87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fees["two"] = 50000;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Syntax / Semantic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Array index must be integer, not string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fees[2] = 50000;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71291536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89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>
                          <a:latin typeface="Courier New" panose="02070309020205020404" pitchFamily="49" charset="0"/>
                        </a:rPr>
                        <a:t>fees[4.5] = 70000;</a:t>
                      </a:r>
                      <a:endParaRPr lang="en-IN" sz="600"/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Semantic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/>
                        <a:t>Array index cannot be float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600" dirty="0">
                          <a:latin typeface="+mn-lt"/>
                        </a:rPr>
                        <a:t>Use integer index such as fees[4] = 70000;</a:t>
                      </a:r>
                    </a:p>
                  </a:txBody>
                  <a:tcPr marL="22201" marR="22201" marT="11100" marB="1110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8688532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17830563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5CAD8999-67E8-3600-E078-2BFF888B195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84863581"/>
              </p:ext>
            </p:extLst>
          </p:nvPr>
        </p:nvGraphicFramePr>
        <p:xfrm>
          <a:off x="111760" y="19503"/>
          <a:ext cx="11694160" cy="6818990"/>
        </p:xfrm>
        <a:graphic>
          <a:graphicData uri="http://schemas.openxmlformats.org/drawingml/2006/table">
            <a:tbl>
              <a:tblPr/>
              <a:tblGrid>
                <a:gridCol w="2338832">
                  <a:extLst>
                    <a:ext uri="{9D8B030D-6E8A-4147-A177-3AD203B41FA5}">
                      <a16:colId xmlns:a16="http://schemas.microsoft.com/office/drawing/2014/main" val="216248263"/>
                    </a:ext>
                  </a:extLst>
                </a:gridCol>
                <a:gridCol w="2338832">
                  <a:extLst>
                    <a:ext uri="{9D8B030D-6E8A-4147-A177-3AD203B41FA5}">
                      <a16:colId xmlns:a16="http://schemas.microsoft.com/office/drawing/2014/main" val="2423482958"/>
                    </a:ext>
                  </a:extLst>
                </a:gridCol>
                <a:gridCol w="2338832">
                  <a:extLst>
                    <a:ext uri="{9D8B030D-6E8A-4147-A177-3AD203B41FA5}">
                      <a16:colId xmlns:a16="http://schemas.microsoft.com/office/drawing/2014/main" val="1754432563"/>
                    </a:ext>
                  </a:extLst>
                </a:gridCol>
                <a:gridCol w="2338832">
                  <a:extLst>
                    <a:ext uri="{9D8B030D-6E8A-4147-A177-3AD203B41FA5}">
                      <a16:colId xmlns:a16="http://schemas.microsoft.com/office/drawing/2014/main" val="2721581752"/>
                    </a:ext>
                  </a:extLst>
                </a:gridCol>
                <a:gridCol w="2338832">
                  <a:extLst>
                    <a:ext uri="{9D8B030D-6E8A-4147-A177-3AD203B41FA5}">
                      <a16:colId xmlns:a16="http://schemas.microsoft.com/office/drawing/2014/main" val="1369924399"/>
                    </a:ext>
                  </a:extLst>
                </a:gridCol>
              </a:tblGrid>
              <a:tr h="175942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Line No.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Code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Error Type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Description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Correction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3049491"/>
                  </a:ext>
                </a:extLst>
              </a:tr>
              <a:tr h="600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95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scanf("%d", result[i]);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Semantic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Missing address operator </a:t>
                      </a:r>
                      <a:r>
                        <a:rPr lang="en-IN" sz="700">
                          <a:latin typeface="Courier New" panose="02070309020205020404" pitchFamily="49" charset="0"/>
                        </a:rPr>
                        <a:t>&amp;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scanf</a:t>
                      </a:r>
                      <a:r>
                        <a:rPr lang="en-IN" sz="700" dirty="0">
                          <a:latin typeface="+mn-lt"/>
                        </a:rPr>
                        <a:t>("%d", &amp;result[</a:t>
                      </a:r>
                      <a:r>
                        <a:rPr lang="en-IN" sz="700" dirty="0" err="1">
                          <a:latin typeface="+mn-lt"/>
                        </a:rPr>
                        <a:t>i</a:t>
                      </a:r>
                      <a:r>
                        <a:rPr lang="en-IN" sz="700" dirty="0">
                          <a:latin typeface="+mn-lt"/>
                        </a:rPr>
                        <a:t>]);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24288108"/>
                  </a:ext>
                </a:extLst>
              </a:tr>
              <a:tr h="600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111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if(inventory[2] = 30)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Logical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Assignment used instead of comparison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if(inventory[2] == 30)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48862457"/>
                  </a:ext>
                </a:extLst>
              </a:tr>
              <a:tr h="600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119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backup = inventory;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Syntax / Semantic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Arrays cannot be assigned directly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Copy elements using loop or </a:t>
                      </a:r>
                      <a:r>
                        <a:rPr lang="en-IN" sz="700" dirty="0" err="1">
                          <a:latin typeface="+mn-lt"/>
                        </a:rPr>
                        <a:t>memcpy</a:t>
                      </a:r>
                      <a:r>
                        <a:rPr lang="en-IN" sz="700" dirty="0">
                          <a:latin typeface="+mn-lt"/>
                        </a:rPr>
                        <a:t>()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0948746"/>
                  </a:ext>
                </a:extLst>
              </a:tr>
              <a:tr h="600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129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printf("%d\n", salary[0]);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Format Error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Float printed using </a:t>
                      </a:r>
                      <a:r>
                        <a:rPr lang="en-IN" sz="700" dirty="0">
                          <a:latin typeface="Courier New" panose="02070309020205020404" pitchFamily="49" charset="0"/>
                        </a:rPr>
                        <a:t>%d</a:t>
                      </a:r>
                      <a:endParaRPr lang="en-IN" sz="700" dirty="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printf</a:t>
                      </a:r>
                      <a:r>
                        <a:rPr lang="en-IN" sz="700" dirty="0">
                          <a:latin typeface="+mn-lt"/>
                        </a:rPr>
                        <a:t>("%f\n", salary[0]);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0217084"/>
                  </a:ext>
                </a:extLst>
              </a:tr>
              <a:tr h="742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135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city = "Jaipur";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Syntax / Semantic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Cannot assign string directly to character array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strcpy</a:t>
                      </a:r>
                      <a:r>
                        <a:rPr lang="en-IN" sz="700" dirty="0">
                          <a:latin typeface="+mn-lt"/>
                        </a:rPr>
                        <a:t>(city, "Jaipur");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79761043"/>
                  </a:ext>
                </a:extLst>
              </a:tr>
              <a:tr h="45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146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printf("%s\n", branch);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Logical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String not null-terminated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Add branch[4] = '\0';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23991000"/>
                  </a:ext>
                </a:extLst>
              </a:tr>
              <a:tr h="45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152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for(int i=0;i&lt;=5;i++)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Array Bounds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Loop accesses </a:t>
                      </a:r>
                      <a:r>
                        <a:rPr lang="en-IN" sz="700">
                          <a:latin typeface="Courier New" panose="02070309020205020404" pitchFamily="49" charset="0"/>
                        </a:rPr>
                        <a:t>stock[5]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for(int </a:t>
                      </a:r>
                      <a:r>
                        <a:rPr lang="en-IN" sz="700" dirty="0" err="1">
                          <a:latin typeface="+mn-lt"/>
                        </a:rPr>
                        <a:t>i</a:t>
                      </a:r>
                      <a:r>
                        <a:rPr lang="en-IN" sz="700" dirty="0">
                          <a:latin typeface="+mn-lt"/>
                        </a:rPr>
                        <a:t>=0;i&lt;5;i++)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03964674"/>
                  </a:ext>
                </a:extLst>
              </a:tr>
              <a:tr h="74241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166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strcpy(course,"Programming");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Buffer Overflow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String exceeds array size 8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Increase array size, e.g. char course[20];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163061065"/>
                  </a:ext>
                </a:extLst>
              </a:tr>
              <a:tr h="317559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/>
                        <a:t>174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ratings[-1] = 10;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Array Bounds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Negative array index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Use valid index 0–4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429696"/>
                  </a:ext>
                </a:extLst>
              </a:tr>
              <a:tr h="600793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180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printf("%s\n", feedback[0]);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Format Error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%s</a:t>
                      </a:r>
                      <a:r>
                        <a:rPr lang="en-IN" sz="700"/>
                        <a:t> expects string, received integer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 err="1">
                          <a:latin typeface="+mn-lt"/>
                        </a:rPr>
                        <a:t>printf</a:t>
                      </a:r>
                      <a:r>
                        <a:rPr lang="en-IN" sz="700" dirty="0">
                          <a:latin typeface="+mn-lt"/>
                        </a:rPr>
                        <a:t>("%d\n", feedback[0]);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93694667"/>
                  </a:ext>
                </a:extLst>
              </a:tr>
              <a:tr h="45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188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scores = marks;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Syntax / Semantic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Arrays cannot be assigned directly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Copy elements using loop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49362070"/>
                  </a:ext>
                </a:extLst>
              </a:tr>
              <a:tr h="459176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198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>
                          <a:latin typeface="Courier New" panose="02070309020205020404" pitchFamily="49" charset="0"/>
                        </a:rPr>
                        <a:t>printf("%d\n", temp[5]);</a:t>
                      </a:r>
                      <a:endParaRPr lang="en-IN" sz="700"/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Runtime / Array Bounds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/>
                        <a:t>Accesses element outside array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700" dirty="0">
                          <a:latin typeface="+mn-lt"/>
                        </a:rPr>
                        <a:t>Use temp[4] or valid index</a:t>
                      </a:r>
                    </a:p>
                  </a:txBody>
                  <a:tcPr marL="24041" marR="24041" marT="12020" marB="120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3226705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8995381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2718</Words>
  <Application>Microsoft Office PowerPoint</Application>
  <PresentationFormat>Widescreen</PresentationFormat>
  <Paragraphs>528</Paragraphs>
  <Slides>19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4" baseType="lpstr">
      <vt:lpstr>Aptos</vt:lpstr>
      <vt:lpstr>Aptos Display</vt:lpstr>
      <vt:lpstr>Arial</vt:lpstr>
      <vt:lpstr>Courier New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Rahul Soni</dc:creator>
  <cp:lastModifiedBy>Rahul Soni</cp:lastModifiedBy>
  <cp:revision>2</cp:revision>
  <dcterms:created xsi:type="dcterms:W3CDTF">2026-06-19T16:50:27Z</dcterms:created>
  <dcterms:modified xsi:type="dcterms:W3CDTF">2026-06-19T18:13:35Z</dcterms:modified>
</cp:coreProperties>
</file>